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2743200" y="4572000"/>
            <a:ext cx="9144000" cy="2743200"/>
          </a:xfrm>
          <a:prstGeom prst="parallelogram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400800" y="-914400"/>
            <a:ext cx="7315200" cy="2286000"/>
          </a:xfrm>
          <a:prstGeom prst="parallelogram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4572000"/>
            <a:ext cx="2743200" cy="2743200"/>
          </a:xfrm>
          <a:prstGeom prst="ellipse">
            <a:avLst/>
          </a:prstGeom>
          <a:solidFill>
            <a:srgbClr val="9D4EDD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14400" y="-914400"/>
            <a:ext cx="2286000" cy="2286000"/>
          </a:xfrm>
          <a:prstGeom prst="ellipse">
            <a:avLst/>
          </a:prstGeom>
          <a:solidFill>
            <a:srgbClr val="00D4AA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72865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PerturbAI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D4AA"/>
                </a:solidFill>
              </a:defRPr>
            </a:pPr>
            <a:r>
              <a:t>AI-Powered Gene Perturbation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i="1">
                <a:solidFill>
                  <a:srgbClr val="AABBCC"/>
                </a:solidFill>
              </a:defRPr>
            </a:pPr>
            <a:r>
              <a:t>Accelerating Drug Discovery with In Silico Predictions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60320" cy="21945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6B6B"/>
                </a:solidFill>
              </a:defRPr>
            </a:pPr>
            <a:r>
              <a:t>$2.6B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Average cost to</a:t>
            </a:r>
            <a:br/>
            <a:r>
              <a:t>bring a drug to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828800"/>
            <a:ext cx="2560320" cy="21945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6B6B"/>
                </a:solidFill>
              </a:defRPr>
            </a:pPr>
            <a: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Failure rate in</a:t>
            </a:r>
            <a:br/>
            <a:r>
              <a:t>clinical trials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560320" cy="21945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6B6B"/>
                </a:solidFill>
              </a:defRPr>
            </a:pPr>
            <a:r>
              <a:t>10+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Typical drug</a:t>
            </a:r>
            <a:br/>
            <a:r>
              <a:t>development timeline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828800"/>
            <a:ext cx="2560320" cy="21945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6B6B"/>
                </a:solidFill>
              </a:defRPr>
            </a:pPr>
            <a:r>
              <a:t>1000s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Genes to screen</a:t>
            </a:r>
            <a:br/>
            <a:r>
              <a:t>per indication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6213E"/>
                </a:solidFill>
              </a:defRPr>
            </a:pPr>
            <a:r>
              <a:t>What if you could predict perturbation effects before going to the lab?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Solution: PerturbAI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2743200" cy="34747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Regulatory</a:t>
            </a:r>
            <a:br/>
            <a:r>
              <a:t>Networks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Pre-computed gene</a:t>
            </a:r>
            <a:br/>
            <a:r>
              <a:t>regulatory networks from</a:t>
            </a:r>
            <a:br/>
            <a:r>
              <a:t>single-cell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645920"/>
            <a:ext cx="2743200" cy="3474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AI</a:t>
            </a:r>
            <a:br/>
            <a:r>
              <a:t>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0175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256-dim gene vectors</a:t>
            </a:r>
            <a:br/>
            <a:r>
              <a:t>trained on 11 million</a:t>
            </a:r>
            <a:br/>
            <a:r>
              <a:t>single cells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743200" cy="347472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External</a:t>
            </a:r>
            <a:br/>
            <a: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175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STRING, LINCS,</a:t>
            </a:r>
            <a:br/>
            <a:r>
              <a:t>Super-enhancers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645920"/>
            <a:ext cx="2743200" cy="3474720"/>
          </a:xfrm>
          <a:prstGeom prst="round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LLM</a:t>
            </a:r>
            <a:br/>
            <a:r>
              <a:t>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0175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Ollama-powered</a:t>
            </a:r>
            <a:br/>
            <a:r>
              <a:t>biological 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16213E"/>
                </a:solidFill>
              </a:defRPr>
            </a:pPr>
            <a:r>
              <a:t>Combined scoring delivers predictions no single approach can match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63040"/>
            <a:ext cx="3200400" cy="640080"/>
          </a:xfrm>
          <a:prstGeom prst="roundRect">
            <a:avLst>
              <a:gd name="adj" fmla="val 15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Natural Language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1488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C757D"/>
                </a:solidFill>
              </a:defRPr>
            </a:pPr>
            <a:r>
              <a:t>"Knock down MYC in T cells"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97880" y="260604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3200400" cy="1005840"/>
          </a:xfrm>
          <a:prstGeom prst="roundRect">
            <a:avLst>
              <a:gd name="adj" fmla="val 1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Network Propagation</a:t>
            </a:r>
            <a:br/>
            <a:r>
              <a:t>BFS through regulatory edges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17520"/>
            <a:ext cx="3200400" cy="100584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Embedding Analysis</a:t>
            </a:r>
            <a:br/>
            <a:r>
              <a:t>Cosine similarity in latent space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3017520"/>
            <a:ext cx="3200400" cy="1005840"/>
          </a:xfrm>
          <a:prstGeom prst="roundRect">
            <a:avLst>
              <a:gd name="adj" fmla="val 15000"/>
            </a:avLst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External Validation</a:t>
            </a:r>
            <a:br/>
            <a:r>
              <a:t>STRING + LINCS lookup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874519" y="411480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5897880" y="411480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9921240" y="411480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86000" y="4526280"/>
            <a:ext cx="7589520" cy="731520"/>
          </a:xfrm>
          <a:prstGeom prst="roundRect">
            <a:avLst>
              <a:gd name="adj" fmla="val 1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Combined Scoring: Network Effect + Embedding Boost + Confidence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897880" y="534924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08960" y="5760720"/>
            <a:ext cx="5943600" cy="822960"/>
          </a:xfrm>
          <a:prstGeom prst="roundRect">
            <a:avLst>
              <a:gd name="adj" fmla="val 1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Ranked Gene List + Actionable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LangGraph Workflow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6C757D"/>
                </a:solidFill>
              </a:defRPr>
            </a:pPr>
            <a:r>
              <a:t>Intelligent routing with parallel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920240"/>
            <a:ext cx="2011680" cy="548640"/>
          </a:xfrm>
          <a:prstGeom prst="roundRect">
            <a:avLst>
              <a:gd name="adj" fmla="val 15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Gene Input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97880" y="251460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743200"/>
            <a:ext cx="2926080" cy="548640"/>
          </a:xfrm>
          <a:prstGeom prst="roundRect">
            <a:avLst>
              <a:gd name="adj" fmla="val 1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Classify Gene Type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97880" y="333756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5029200" y="3520440"/>
            <a:ext cx="2011680" cy="731520"/>
          </a:xfrm>
          <a:prstGeom prst="diamond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7033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Route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931920" y="388620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11680" y="438912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TF Analysis</a:t>
            </a:r>
            <a:br/>
            <a:r>
              <a:t>(BFS cascade)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897880" y="429768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4526280"/>
            <a:ext cx="2926080" cy="502920"/>
          </a:xfrm>
          <a:prstGeom prst="roundRect">
            <a:avLst>
              <a:gd name="adj" fmla="val 15000"/>
            </a:avLst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Master Regulator Analysis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863840" y="388620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80960" y="438912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4A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Effector Analysis</a:t>
            </a:r>
            <a:br/>
            <a:r>
              <a:t>(PPI + routing)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5394960"/>
            <a:ext cx="6949440" cy="502920"/>
          </a:xfrm>
          <a:prstGeom prst="roundRect">
            <a:avLst>
              <a:gd name="adj" fmla="val 1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Parallel Batch: External APIs + Insights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897880" y="594360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14800" y="6172200"/>
            <a:ext cx="3840480" cy="548640"/>
          </a:xfrm>
          <a:prstGeom prst="roundRect">
            <a:avLst>
              <a:gd name="adj" fmla="val 15000"/>
            </a:avLst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Synthesize &amp; 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1920240"/>
            <a:ext cx="3931920" cy="219456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01168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2E"/>
                </a:solidFill>
              </a:defRPr>
            </a:pPr>
            <a:r>
              <a:t>Key Benefits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37744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200">
                <a:solidFill>
                  <a:srgbClr val="2C3E50"/>
                </a:solidFill>
              </a:defRPr>
            </a:pPr>
            <a:r>
              <a:t>• Intelligent gene-type routing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t>• 3-5x faster via parallelization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t>• Optional LLM biological insights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t>• Graceful fallback mechanisms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1920240"/>
            <a:ext cx="3657600" cy="21945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0116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AA"/>
                </a:solidFill>
              </a:defRPr>
            </a:pPr>
            <a:r>
              <a:t>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3774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Basic: ~3 sec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Standard: ~5 sec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Comprehensive: ~8-10 sec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Multi-gene (3): ~10 sec parallel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Perturbation Analysis: Cascading Fallback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960120"/>
            <a:ext cx="1280160" cy="4114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3327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Gene Input</a:t>
            </a:r>
          </a:p>
        </p:txBody>
      </p:sp>
      <p:sp>
        <p:nvSpPr>
          <p:cNvPr id="9" name="Down Arrow 8"/>
          <p:cNvSpPr/>
          <p:nvPr/>
        </p:nvSpPr>
        <p:spPr>
          <a:xfrm>
            <a:off x="1508760" y="1399032"/>
            <a:ext cx="274320" cy="274320"/>
          </a:xfrm>
          <a:prstGeom prst="downArrow">
            <a:avLst/>
          </a:prstGeom>
          <a:solidFill>
            <a:srgbClr val="8E9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731520" y="1737360"/>
            <a:ext cx="1828800" cy="640080"/>
          </a:xfrm>
          <a:prstGeom prst="diamond">
            <a:avLst/>
          </a:prstGeom>
          <a:solidFill>
            <a:srgbClr val="2C3E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0195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GRN edges?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1920240"/>
            <a:ext cx="292608" cy="29260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938528"/>
            <a:ext cx="292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51760" y="1965960"/>
            <a:ext cx="457200" cy="201168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75564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AA"/>
                </a:solidFill>
              </a:defRPr>
            </a:pPr>
            <a:r>
              <a:t>YES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1828800"/>
            <a:ext cx="2286000" cy="457200"/>
          </a:xfrm>
          <a:prstGeom prst="roundRect">
            <a:avLst/>
          </a:prstGeom>
          <a:solidFill>
            <a:srgbClr val="4A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90195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BFS propagation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492240" y="1965960"/>
            <a:ext cx="365760" cy="182880"/>
          </a:xfrm>
          <a:prstGeom prst="rightArrow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0" y="1847088"/>
            <a:ext cx="640080" cy="41148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920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508760" y="2395728"/>
            <a:ext cx="274320" cy="228600"/>
          </a:xfrm>
          <a:prstGeom prst="downArrow">
            <a:avLst/>
          </a:prstGeom>
          <a:solidFill>
            <a:srgbClr val="8E9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239572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E99A4"/>
                </a:solidFill>
              </a:defRPr>
            </a:pPr>
            <a:r>
              <a:t>NO</a:t>
            </a:r>
          </a:p>
        </p:txBody>
      </p:sp>
      <p:sp>
        <p:nvSpPr>
          <p:cNvPr id="23" name="Diamond 22"/>
          <p:cNvSpPr/>
          <p:nvPr/>
        </p:nvSpPr>
        <p:spPr>
          <a:xfrm>
            <a:off x="731520" y="2606040"/>
            <a:ext cx="1828800" cy="640080"/>
          </a:xfrm>
          <a:prstGeom prst="diamond">
            <a:avLst/>
          </a:prstGeom>
          <a:solidFill>
            <a:srgbClr val="2C3E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277063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STRING</a:t>
            </a:r>
            <a:br/>
            <a:r>
              <a:t>partner?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2788920"/>
            <a:ext cx="292608" cy="29260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807208"/>
            <a:ext cx="292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651760" y="2834640"/>
            <a:ext cx="457200" cy="201168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97480" y="26243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AA"/>
                </a:solidFill>
              </a:defRPr>
            </a:pPr>
            <a:r>
              <a:t>YES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2697480"/>
            <a:ext cx="2286000" cy="457200"/>
          </a:xfrm>
          <a:prstGeom prst="roundRect">
            <a:avLst/>
          </a:prstGeom>
          <a:solidFill>
            <a:srgbClr val="4A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27706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Route → BFS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492240" y="2834640"/>
            <a:ext cx="365760" cy="182880"/>
          </a:xfrm>
          <a:prstGeom prst="rightArrow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0" y="2715768"/>
            <a:ext cx="640080" cy="41148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7889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1508760" y="3264408"/>
            <a:ext cx="274320" cy="228600"/>
          </a:xfrm>
          <a:prstGeom prst="downArrow">
            <a:avLst/>
          </a:prstGeom>
          <a:solidFill>
            <a:srgbClr val="8E9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0" y="326440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E99A4"/>
                </a:solidFill>
              </a:defRPr>
            </a:pPr>
            <a:r>
              <a:t>NO</a:t>
            </a:r>
          </a:p>
        </p:txBody>
      </p:sp>
      <p:sp>
        <p:nvSpPr>
          <p:cNvPr id="36" name="Diamond 35"/>
          <p:cNvSpPr/>
          <p:nvPr/>
        </p:nvSpPr>
        <p:spPr>
          <a:xfrm>
            <a:off x="731520" y="3474720"/>
            <a:ext cx="1828800" cy="640080"/>
          </a:xfrm>
          <a:prstGeom prst="diamond">
            <a:avLst/>
          </a:prstGeom>
          <a:solidFill>
            <a:srgbClr val="2C3E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363931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Embedding</a:t>
            </a:r>
            <a:br/>
            <a:r>
              <a:t>neighbor?</a:t>
            </a:r>
          </a:p>
        </p:txBody>
      </p:sp>
      <p:sp>
        <p:nvSpPr>
          <p:cNvPr id="38" name="Oval 37"/>
          <p:cNvSpPr/>
          <p:nvPr/>
        </p:nvSpPr>
        <p:spPr>
          <a:xfrm>
            <a:off x="411480" y="3657600"/>
            <a:ext cx="292608" cy="29260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675888"/>
            <a:ext cx="292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2651760" y="3703320"/>
            <a:ext cx="457200" cy="201168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97480" y="349300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AA"/>
                </a:solidFill>
              </a:defRPr>
            </a:pPr>
            <a:r>
              <a:t>YES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0" y="3566160"/>
            <a:ext cx="2286000" cy="457200"/>
          </a:xfrm>
          <a:prstGeom prst="roundRect">
            <a:avLst/>
          </a:prstGeom>
          <a:solidFill>
            <a:srgbClr val="4A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363931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Route → BFS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6492240" y="3703320"/>
            <a:ext cx="365760" cy="182880"/>
          </a:xfrm>
          <a:prstGeom prst="rightArrow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83680" y="3584448"/>
            <a:ext cx="640080" cy="41148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36576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1508760" y="4133088"/>
            <a:ext cx="274320" cy="228600"/>
          </a:xfrm>
          <a:prstGeom prst="downArrow">
            <a:avLst/>
          </a:prstGeom>
          <a:solidFill>
            <a:srgbClr val="8E9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800" y="413308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E99A4"/>
                </a:solidFill>
              </a:defRPr>
            </a:pPr>
            <a:r>
              <a:t>NO</a:t>
            </a:r>
          </a:p>
        </p:txBody>
      </p:sp>
      <p:sp>
        <p:nvSpPr>
          <p:cNvPr id="49" name="Diamond 48"/>
          <p:cNvSpPr/>
          <p:nvPr/>
        </p:nvSpPr>
        <p:spPr>
          <a:xfrm>
            <a:off x="731520" y="4343400"/>
            <a:ext cx="1828800" cy="640080"/>
          </a:xfrm>
          <a:prstGeom prst="diamond">
            <a:avLst/>
          </a:prstGeom>
          <a:solidFill>
            <a:srgbClr val="2C3E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450799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LINCS</a:t>
            </a:r>
            <a:br/>
            <a:r>
              <a:t>signature?</a:t>
            </a:r>
          </a:p>
        </p:txBody>
      </p:sp>
      <p:sp>
        <p:nvSpPr>
          <p:cNvPr id="51" name="Oval 50"/>
          <p:cNvSpPr/>
          <p:nvPr/>
        </p:nvSpPr>
        <p:spPr>
          <a:xfrm>
            <a:off x="411480" y="4526280"/>
            <a:ext cx="292608" cy="29260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544568"/>
            <a:ext cx="292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2651760" y="4572000"/>
            <a:ext cx="457200" cy="201168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97480" y="43616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AA"/>
                </a:solidFill>
              </a:defRPr>
            </a:pPr>
            <a:r>
              <a:t>YES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14800" y="4434840"/>
            <a:ext cx="2286000" cy="457200"/>
          </a:xfrm>
          <a:prstGeom prst="roundRect">
            <a:avLst/>
          </a:prstGeom>
          <a:solidFill>
            <a:srgbClr val="4A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06240" y="450799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Map downstream → BFS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6492240" y="4572000"/>
            <a:ext cx="365760" cy="182880"/>
          </a:xfrm>
          <a:prstGeom prst="rightArrow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583680" y="4453128"/>
            <a:ext cx="640080" cy="41148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0" y="452628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  <p:sp>
        <p:nvSpPr>
          <p:cNvPr id="60" name="Down Arrow 59"/>
          <p:cNvSpPr/>
          <p:nvPr/>
        </p:nvSpPr>
        <p:spPr>
          <a:xfrm>
            <a:off x="1508760" y="5001768"/>
            <a:ext cx="274320" cy="228600"/>
          </a:xfrm>
          <a:prstGeom prst="downArrow">
            <a:avLst/>
          </a:prstGeom>
          <a:solidFill>
            <a:srgbClr val="8E9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28800" y="500176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E99A4"/>
                </a:solidFill>
              </a:defRPr>
            </a:pPr>
            <a:r>
              <a:t>NO</a:t>
            </a:r>
          </a:p>
        </p:txBody>
      </p:sp>
      <p:sp>
        <p:nvSpPr>
          <p:cNvPr id="62" name="Diamond 61"/>
          <p:cNvSpPr/>
          <p:nvPr/>
        </p:nvSpPr>
        <p:spPr>
          <a:xfrm>
            <a:off x="731520" y="5212080"/>
            <a:ext cx="1828800" cy="640080"/>
          </a:xfrm>
          <a:prstGeom prst="diamond">
            <a:avLst/>
          </a:prstGeom>
          <a:solidFill>
            <a:srgbClr val="2C3E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537667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Super-</a:t>
            </a:r>
            <a:br/>
            <a:r>
              <a:t>enhancer?</a:t>
            </a:r>
          </a:p>
        </p:txBody>
      </p:sp>
      <p:sp>
        <p:nvSpPr>
          <p:cNvPr id="64" name="Oval 63"/>
          <p:cNvSpPr/>
          <p:nvPr/>
        </p:nvSpPr>
        <p:spPr>
          <a:xfrm>
            <a:off x="411480" y="5394960"/>
            <a:ext cx="292608" cy="29260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5413248"/>
            <a:ext cx="292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2651760" y="5440680"/>
            <a:ext cx="457200" cy="201168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97480" y="523036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AA"/>
                </a:solidFill>
              </a:defRPr>
            </a:pPr>
            <a:r>
              <a:t>YES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114800" y="5303520"/>
            <a:ext cx="2286000" cy="457200"/>
          </a:xfrm>
          <a:prstGeom prst="roundRect">
            <a:avLst/>
          </a:prstGeom>
          <a:solidFill>
            <a:srgbClr val="4A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06240" y="537667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Route to TFs → BFS</a:t>
            </a:r>
          </a:p>
        </p:txBody>
      </p:sp>
      <p:sp>
        <p:nvSpPr>
          <p:cNvPr id="70" name="Right Arrow 69"/>
          <p:cNvSpPr/>
          <p:nvPr/>
        </p:nvSpPr>
        <p:spPr>
          <a:xfrm>
            <a:off x="6492240" y="5440680"/>
            <a:ext cx="365760" cy="182880"/>
          </a:xfrm>
          <a:prstGeom prst="rightArrow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583680" y="5321808"/>
            <a:ext cx="640080" cy="41148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83680" y="53949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  <p:sp>
        <p:nvSpPr>
          <p:cNvPr id="73" name="Down Arrow 72"/>
          <p:cNvSpPr/>
          <p:nvPr/>
        </p:nvSpPr>
        <p:spPr>
          <a:xfrm>
            <a:off x="1508760" y="5870448"/>
            <a:ext cx="274320" cy="228600"/>
          </a:xfrm>
          <a:prstGeom prst="downArrow">
            <a:avLst/>
          </a:prstGeom>
          <a:solidFill>
            <a:srgbClr val="8E9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828800" y="587044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E99A4"/>
                </a:solidFill>
              </a:defRPr>
            </a:pPr>
            <a:r>
              <a:t>NO</a:t>
            </a:r>
          </a:p>
        </p:txBody>
      </p:sp>
      <p:sp>
        <p:nvSpPr>
          <p:cNvPr id="75" name="Oval 74"/>
          <p:cNvSpPr/>
          <p:nvPr/>
        </p:nvSpPr>
        <p:spPr>
          <a:xfrm>
            <a:off x="411480" y="6172200"/>
            <a:ext cx="292608" cy="292608"/>
          </a:xfrm>
          <a:prstGeom prst="ellipse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6190488"/>
            <a:ext cx="292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31520" y="6126480"/>
            <a:ext cx="4114800" cy="45720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2960" y="62179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Embedding-only similarity ranking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4937760" y="6263640"/>
            <a:ext cx="365760" cy="18288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394960" y="6144768"/>
            <a:ext cx="1097280" cy="411480"/>
          </a:xfrm>
          <a:prstGeom prst="round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94960" y="62179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89520" y="1097280"/>
            <a:ext cx="4114800" cy="1737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F8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72400" y="123444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2E"/>
                </a:solidFill>
              </a:defRPr>
            </a:pPr>
            <a:r>
              <a:t>Fallback Strategy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72400" y="150876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00" b="0">
                <a:solidFill>
                  <a:srgbClr val="00D4AA"/>
                </a:solidFill>
              </a:defRPr>
            </a:pPr>
            <a:r>
              <a:t>1. GRN Edges: Direct regulatory targets</a:t>
            </a:r>
          </a:p>
          <a:p>
            <a:pPr>
              <a:spcBef>
                <a:spcPts val="200"/>
              </a:spcBef>
              <a:defRPr sz="900" b="0">
                <a:solidFill>
                  <a:srgbClr val="4A69BD"/>
                </a:solidFill>
              </a:defRPr>
            </a:pPr>
            <a:r>
              <a:t>2. STRING: Protein interaction partners</a:t>
            </a:r>
          </a:p>
          <a:p>
            <a:pPr>
              <a:spcBef>
                <a:spcPts val="200"/>
              </a:spcBef>
              <a:defRPr sz="900" b="0">
                <a:solidFill>
                  <a:srgbClr val="9D4EDD"/>
                </a:solidFill>
              </a:defRPr>
            </a:pPr>
            <a:r>
              <a:t>3. Embeddings: Functionally similar genes</a:t>
            </a:r>
          </a:p>
          <a:p>
            <a:pPr>
              <a:spcBef>
                <a:spcPts val="200"/>
              </a:spcBef>
              <a:defRPr sz="900" b="0">
                <a:solidFill>
                  <a:srgbClr val="FF6B6B"/>
                </a:solidFill>
              </a:defRPr>
            </a:pPr>
            <a:r>
              <a:t>4. LINCS: Perturbation signatures</a:t>
            </a:r>
          </a:p>
          <a:p>
            <a:pPr>
              <a:spcBef>
                <a:spcPts val="200"/>
              </a:spcBef>
              <a:defRPr sz="900" b="0">
                <a:solidFill>
                  <a:srgbClr val="00C98D"/>
                </a:solidFill>
              </a:defRPr>
            </a:pPr>
            <a:r>
              <a:t>5. Super-enhancer: Chromatin-linked TFs</a:t>
            </a:r>
          </a:p>
          <a:p>
            <a:pPr>
              <a:spcBef>
                <a:spcPts val="200"/>
              </a:spcBef>
              <a:defRPr sz="900" b="0">
                <a:solidFill>
                  <a:srgbClr val="6C757D"/>
                </a:solidFill>
              </a:defRPr>
            </a:pPr>
            <a:r>
              <a:t>6. Embed-only: Lowest confidence fallback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680960" y="3931920"/>
            <a:ext cx="3931920" cy="3200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72400" y="4005072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AA"/>
                </a:solidFill>
              </a:defRPr>
            </a:pPr>
            <a:r>
              <a:t>Perturbation Scoring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72400" y="4251960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CCBB"/>
                </a:solidFill>
              </a:defRPr>
            </a:pPr>
            <a:r>
              <a:t>Network Effect (BFS propagation):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72400" y="443484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onsolas"/>
              </a:defRPr>
            </a:pPr>
            <a:r>
              <a:t>E_net(t) = ∏ MI(e)  for edges r→t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72400" y="4754880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B88DD"/>
                </a:solidFill>
              </a:defRPr>
            </a:pPr>
            <a:r>
              <a:t>Embedding Similarity: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72400" y="493776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onsolas"/>
              </a:defRPr>
            </a:pPr>
            <a:r>
              <a:t>E_emb(t) = cos(v_g, v_t)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72400" y="5257800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CC66"/>
                </a:solidFill>
              </a:defRPr>
            </a:pPr>
            <a:r>
              <a:t>Combined Effect: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72400" y="544068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onsolas"/>
              </a:defRPr>
            </a:pPr>
            <a:r>
              <a:t>E(t) = E_net × (α + (1-α) × E_emb)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72400" y="5806440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AABBCC"/>
                </a:solidFill>
              </a:defRPr>
            </a:pPr>
            <a:r>
              <a:t>where α = 0.7 (network weight)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0" y="608076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D4AA"/>
                </a:solidFill>
              </a:defRPr>
            </a:pPr>
            <a:r>
              <a:t>r = Route(g) → GRN-active node</a:t>
            </a:r>
          </a:p>
          <a:p>
            <a:pPr>
              <a:defRPr sz="800">
                <a:solidFill>
                  <a:srgbClr val="99AABB"/>
                </a:solidFill>
              </a:defRPr>
            </a:pPr>
            <a:r>
              <a:t>v_g, v_t = 256-dim gene embeddings</a:t>
            </a:r>
          </a:p>
          <a:p>
            <a:pPr>
              <a:defRPr sz="800">
                <a:solidFill>
                  <a:srgbClr val="99AABB"/>
                </a:solidFill>
              </a:defRPr>
            </a:pPr>
            <a:r>
              <a:t>MI(e) = mutual information edge weight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10 Cell Type Networks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011680" cy="182880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CD4+ T Cells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645920"/>
            <a:ext cx="2011680" cy="182880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CD8+ T Cells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645920"/>
            <a:ext cx="2011680" cy="182880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NK Cells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645920"/>
            <a:ext cx="2011680" cy="182880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NKT Cells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1645920"/>
            <a:ext cx="201168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 Cells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201168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CD14+ Monocytes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3840480"/>
            <a:ext cx="201168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CD16+ Monocytes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3840480"/>
            <a:ext cx="201168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Dendritic Cells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840480"/>
            <a:ext cx="2011680" cy="182880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Epithelial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3840480"/>
            <a:ext cx="2011680" cy="182880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Erythrocytes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C757D"/>
                </a:solidFill>
              </a:defRPr>
            </a:pPr>
            <a:r>
              <a:t>Pre-computed regulatory networks derived from single-cell RNA-seq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566160" cy="2194560"/>
          </a:xfrm>
          <a:prstGeom prst="roundRect">
            <a:avLst/>
          </a:prstGeom>
          <a:solidFill>
            <a:srgbClr val="F8F9FC"/>
          </a:solidFill>
          <a:ln w="381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566160" cy="1371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Gene Knockdown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C757D"/>
                </a:solidFill>
              </a:defRPr>
            </a:pPr>
            <a:r>
              <a:t>Predict downstream effects</a:t>
            </a:r>
            <a:br/>
            <a:r>
              <a:t>of gene silencing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566160" cy="2194560"/>
          </a:xfrm>
          <a:prstGeom prst="roundRect">
            <a:avLst/>
          </a:prstGeom>
          <a:solidFill>
            <a:srgbClr val="F8F9FC"/>
          </a:solidFill>
          <a:ln w="38100"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3566160" cy="137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92024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Overexpression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0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C757D"/>
                </a:solidFill>
              </a:defRPr>
            </a:pPr>
            <a:r>
              <a:t>Model increased gene</a:t>
            </a:r>
            <a:br/>
            <a:r>
              <a:t>expression impact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566160" cy="2194560"/>
          </a:xfrm>
          <a:prstGeom prst="roundRect">
            <a:avLst/>
          </a:prstGeom>
          <a:solidFill>
            <a:srgbClr val="F8F9FC"/>
          </a:solidFill>
          <a:ln w="38100">
            <a:solidFill>
              <a:srgbClr val="00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554480"/>
            <a:ext cx="3566160" cy="13716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Similar Genes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60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C757D"/>
                </a:solidFill>
              </a:defRPr>
            </a:pPr>
            <a:r>
              <a:t>Find functionally related</a:t>
            </a:r>
            <a:br/>
            <a:r>
              <a:t>genes via embeddings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3566160" cy="2194560"/>
          </a:xfrm>
          <a:prstGeom prst="roundRect">
            <a:avLst/>
          </a:prstGeom>
          <a:solidFill>
            <a:srgbClr val="F8F9FC"/>
          </a:solidFill>
          <a:ln w="381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3566160" cy="1371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891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Drug Targets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C757D"/>
                </a:solidFill>
              </a:defRPr>
            </a:pPr>
            <a:r>
              <a:t>Identify network</a:t>
            </a:r>
            <a:br/>
            <a:r>
              <a:t>vulnerabilities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023360"/>
            <a:ext cx="3566160" cy="2194560"/>
          </a:xfrm>
          <a:prstGeom prst="roundRect">
            <a:avLst/>
          </a:prstGeom>
          <a:solidFill>
            <a:srgbClr val="F8F9FC"/>
          </a:solidFill>
          <a:ln w="381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023360"/>
            <a:ext cx="3566160" cy="137160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3891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LLM 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C757D"/>
                </a:solidFill>
              </a:defRPr>
            </a:pPr>
            <a:r>
              <a:t>AI-powered biological</a:t>
            </a:r>
            <a:br/>
            <a:r>
              <a:t>interpretation (Ollama)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023360"/>
            <a:ext cx="3566160" cy="2194560"/>
          </a:xfrm>
          <a:prstGeom prst="roundRect">
            <a:avLst/>
          </a:prstGeom>
          <a:solidFill>
            <a:srgbClr val="F8F9FC"/>
          </a:solidFill>
          <a:ln w="381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4023360"/>
            <a:ext cx="3566160" cy="1371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3891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Super-Enhancers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C757D"/>
                </a:solidFill>
              </a:defRPr>
            </a:pPr>
            <a:r>
              <a:t>BRD4/BET inhibitor</a:t>
            </a:r>
            <a:br/>
            <a:r>
              <a:t>sensitivity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Example: APC Knockdown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2194560" cy="2926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874519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"What happens when</a:t>
            </a:r>
            <a:br/>
            <a:r>
              <a:t>APC is knocked down?"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06040" y="3017520"/>
            <a:ext cx="457200" cy="27432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97479" y="1645920"/>
            <a:ext cx="2194560" cy="2926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0439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39" y="1874519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6213E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Classify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Gene type: Scaffold</a:t>
            </a:r>
            <a:br/>
            <a:r>
              <a:t>No transcriptional targets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37759" y="3017520"/>
            <a:ext cx="457200" cy="27432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0" y="1645920"/>
            <a:ext cx="2194560" cy="292608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1874519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D4AA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Suggest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Analyze protein partners:</a:t>
            </a:r>
            <a:br/>
            <a:r>
              <a:t>CTNNB1, AXIN1, GSK3B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269480" y="3017520"/>
            <a:ext cx="457200" cy="27432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60919" y="1645920"/>
            <a:ext cx="2194560" cy="292608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83879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1874519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C98D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9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59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CTNNB1 overexpression</a:t>
            </a:r>
            <a:br/>
            <a:r>
              <a:t>2,739 genes affected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601199" y="3017520"/>
            <a:ext cx="457200" cy="27432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92640" y="1645920"/>
            <a:ext cx="2194560" cy="29260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15600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0" y="1874519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6B6B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Insight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APC loss = beta-catenin</a:t>
            </a:r>
            <a:br/>
            <a:r>
              <a:t>accumulation = oncogenesis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84632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16213E"/>
                </a:solidFill>
              </a:defRPr>
            </a:pPr>
            <a:r>
              <a:t>Intelligent routing guides users from scaffold proteins to transcriptionally active partners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743200" cy="411480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Immunotherapy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60604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Discover targets in tumor</a:t>
            </a:r>
            <a:br/>
            <a:r>
              <a:t>microenvironment across</a:t>
            </a:r>
            <a:br/>
            <a:r>
              <a:t>immune cell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74320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CAR-T Engineering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60604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8346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Understand exhaustion</a:t>
            </a:r>
            <a:br/>
            <a:r>
              <a:t>and persistence pathways</a:t>
            </a:r>
            <a:br/>
            <a:r>
              <a:t>in T cell networks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54480"/>
            <a:ext cx="2743200" cy="411480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CRISPR Prioritization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60604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8346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Predict perturbation</a:t>
            </a:r>
            <a:br/>
            <a:r>
              <a:t>effects before costly</a:t>
            </a:r>
            <a:br/>
            <a:r>
              <a:t>wet lab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554480"/>
            <a:ext cx="2743200" cy="41148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Target 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260604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8346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Compare candidates</a:t>
            </a:r>
            <a:br/>
            <a:r>
              <a:t>using network vulnerability</a:t>
            </a:r>
            <a:br/>
            <a:r>
              <a:t>and druggability scores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651760" cy="32004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</a:defRPr>
            </a:pPr>
            <a:r>
              <a:t>&lt; 3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</a:defRPr>
            </a:pPr>
            <a:r>
              <a:t>Full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GPU-accelerated</a:t>
            </a:r>
            <a:br/>
            <a:r>
              <a:t>perturbation prediction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45920"/>
            <a:ext cx="2651760" cy="32004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82880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</a:defRPr>
            </a:pPr>
            <a:r>
              <a:t>19,247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9260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</a:defRPr>
            </a:pPr>
            <a:r>
              <a:t>Genes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Complete coverage in</a:t>
            </a:r>
            <a:br/>
            <a:r>
              <a:t>embedding space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45920"/>
            <a:ext cx="2651760" cy="32004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</a:defRPr>
            </a:pPr>
            <a:r>
              <a:t>11M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</a:defRPr>
            </a:pPr>
            <a:r>
              <a:t>Cells Trained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Deep learning on</a:t>
            </a:r>
            <a:br/>
            <a:r>
              <a:t>massive single-cell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645920"/>
            <a:ext cx="2651760" cy="32004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82880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</a:defRPr>
            </a:pPr>
            <a: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9260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</a:defRPr>
            </a:pPr>
            <a:r>
              <a:t>Cell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Immune &amp; cancer-relevant</a:t>
            </a:r>
            <a:br/>
            <a:r>
              <a:t>networks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20640"/>
            <a:ext cx="11094415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Caching and lazy loading ensure fast repeated queries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Seamless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2286000" cy="1097280"/>
          </a:xfrm>
          <a:prstGeom prst="roundRect">
            <a:avLst>
              <a:gd name="adj" fmla="val 15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Researcher</a:t>
            </a:r>
            <a:br/>
            <a:r>
              <a:t>(Natural Language)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34640" y="2743200"/>
            <a:ext cx="457200" cy="27432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2286000"/>
            <a:ext cx="2286000" cy="1097280"/>
          </a:xfrm>
          <a:prstGeom prst="roundRect">
            <a:avLst>
              <a:gd name="adj" fmla="val 1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Claude AI</a:t>
            </a:r>
            <a:br/>
            <a:r>
              <a:t>(MCP Client)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60720" y="2743200"/>
            <a:ext cx="457200" cy="27432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2286000"/>
            <a:ext cx="2286000" cy="109728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PerturbAI</a:t>
            </a:r>
            <a:br/>
            <a:r>
              <a:t>(MCP Server)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86800" y="2743200"/>
            <a:ext cx="457200" cy="27432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35440" y="2286000"/>
            <a:ext cx="2286000" cy="1097280"/>
          </a:xfrm>
          <a:prstGeom prst="roundRect">
            <a:avLst>
              <a:gd name="adj" fmla="val 15000"/>
            </a:avLst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Predictions</a:t>
            </a:r>
            <a:br/>
            <a:r>
              <a:t>&amp; Insights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0" y="3931920"/>
            <a:ext cx="320040" cy="320040"/>
          </a:xfrm>
          <a:prstGeom prst="ellipse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3931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Model Context Protocol (MCP) standard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0" y="4572000"/>
            <a:ext cx="320040" cy="320040"/>
          </a:xfrm>
          <a:prstGeom prst="ellipse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Natural language interface - no coding required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0" y="5212079"/>
            <a:ext cx="320040" cy="320040"/>
          </a:xfrm>
          <a:prstGeom prst="ellipse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52120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Extensible tool framework for custom analyses</a:t>
            </a:r>
          </a:p>
        </p:txBody>
      </p:sp>
      <p:sp>
        <p:nvSpPr>
          <p:cNvPr id="20" name="Oval 19"/>
          <p:cNvSpPr/>
          <p:nvPr/>
        </p:nvSpPr>
        <p:spPr>
          <a:xfrm>
            <a:off x="2286000" y="5852159"/>
            <a:ext cx="320040" cy="320040"/>
          </a:xfrm>
          <a:prstGeom prst="ellipse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585215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Claude Desktop and Claude Code compatible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PerturbAI?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37160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AA"/>
                </a:solidFill>
              </a:defRPr>
            </a:pPr>
            <a:r>
              <a:t>Accelerate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Predict perturbation effects in seconds, not weeks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13716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13E"/>
                </a:solidFill>
              </a:defRPr>
            </a:pPr>
            <a:r>
              <a:t>Reduce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Prioritize experiments before wet lab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137160" cy="82296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C98D"/>
                </a:solidFill>
              </a:defRPr>
            </a:pPr>
            <a:r>
              <a:t>Increase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94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AI + network analysis for robust predictions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137160" cy="8229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6B"/>
                </a:solidFill>
              </a:defRPr>
            </a:pPr>
            <a:r>
              <a:t>Enable Innovation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Natural language interface democratizes 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5303520"/>
            <a:ext cx="6705295" cy="91440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5532120"/>
            <a:ext cx="6705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Ready to transform your drug discovery pipeline?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2743200" y="4572000"/>
            <a:ext cx="9144000" cy="2743200"/>
          </a:xfrm>
          <a:prstGeom prst="parallelogram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400800" y="-914400"/>
            <a:ext cx="7315200" cy="2286000"/>
          </a:xfrm>
          <a:prstGeom prst="parallelogram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4572000"/>
            <a:ext cx="2743200" cy="2743200"/>
          </a:xfrm>
          <a:prstGeom prst="ellipse">
            <a:avLst/>
          </a:prstGeom>
          <a:solidFill>
            <a:srgbClr val="9D4EDD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14400" y="-914400"/>
            <a:ext cx="2286000" cy="2286000"/>
          </a:xfrm>
          <a:prstGeom prst="ellipse">
            <a:avLst/>
          </a:prstGeom>
          <a:solidFill>
            <a:srgbClr val="00D4AA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72865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D4AA"/>
                </a:solidFill>
              </a:defRPr>
            </a:pPr>
            <a:r>
              <a:t>Let's Discuss Your Use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