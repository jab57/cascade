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1828800" y="5029200"/>
            <a:ext cx="7315200" cy="2286000"/>
          </a:xfrm>
          <a:prstGeom prst="parallelogram">
            <a:avLst/>
          </a:prstGeom>
          <a:solidFill>
            <a:srgbClr val="1A568C">
              <a:lumMod val="90000"/>
              <a:lumOff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7315200" y="-457200"/>
            <a:ext cx="6400800" cy="1828800"/>
          </a:xfrm>
          <a:prstGeom prst="parallelogram">
            <a:avLst/>
          </a:prstGeom>
          <a:solidFill>
            <a:srgbClr val="009B9E">
              <a:lumMod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728655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</a:defRPr>
            </a:pPr>
            <a:r>
              <a:t>GREmLN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>
                <a:solidFill>
                  <a:srgbClr val="009B9E"/>
                </a:solidFill>
              </a:defRPr>
            </a:pPr>
            <a:r>
              <a:t>AI-Powered Gene Perturbation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i="1">
                <a:solidFill>
                  <a:srgbClr val="AABBCC"/>
                </a:solidFill>
              </a:defRPr>
            </a:pPr>
            <a:r>
              <a:t>Accelerating Drug Discovery with In Silico Predictions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The Challenge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560320" cy="21945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E86C2C"/>
                </a:solidFill>
              </a:defRPr>
            </a:pPr>
            <a:r>
              <a:t>$2.6B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2D3A4A"/>
                </a:solidFill>
              </a:defRPr>
            </a:pPr>
            <a:r>
              <a:t>Average cost to</a:t>
            </a:r>
            <a:br/>
            <a:r>
              <a:t>bring a drug to market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828800"/>
            <a:ext cx="2560320" cy="21945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210312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E86C2C"/>
                </a:solidFill>
              </a:defRPr>
            </a:pPr>
            <a:r>
              <a:t>90%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0175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2D3A4A"/>
                </a:solidFill>
              </a:defRPr>
            </a:pPr>
            <a:r>
              <a:t>Failure rate in</a:t>
            </a:r>
            <a:br/>
            <a:r>
              <a:t>clinical trials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828800"/>
            <a:ext cx="2560320" cy="21945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10312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E86C2C"/>
                </a:solidFill>
              </a:defRPr>
            </a:pPr>
            <a:r>
              <a:t>10+ Years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0175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2D3A4A"/>
                </a:solidFill>
              </a:defRPr>
            </a:pPr>
            <a:r>
              <a:t>Typical drug</a:t>
            </a:r>
            <a:br/>
            <a:r>
              <a:t>development timeline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1828800"/>
            <a:ext cx="2560320" cy="21945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210312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E86C2C"/>
                </a:solidFill>
              </a:defRPr>
            </a:pPr>
            <a:r>
              <a:t>1000s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30175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2D3A4A"/>
                </a:solidFill>
              </a:defRPr>
            </a:pPr>
            <a:r>
              <a:t>Genes to screen</a:t>
            </a:r>
            <a:br/>
            <a:r>
              <a:t>per indication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57200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A568C"/>
                </a:solidFill>
              </a:defRPr>
            </a:pPr>
            <a:r>
              <a:t>What if you could predict perturbation effects before going to the lab?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The Solution: GREmLN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3474720" cy="3474720"/>
          </a:xfrm>
          <a:prstGeom prst="roundRect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Regulatory</a:t>
            </a:r>
            <a:br/>
            <a:r>
              <a:t>Networks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01752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Pre-computed gene</a:t>
            </a:r>
            <a:br/>
            <a:r>
              <a:t>regulatory networks from</a:t>
            </a:r>
            <a:br/>
            <a:r>
              <a:t>single-cell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645920"/>
            <a:ext cx="3474720" cy="3474720"/>
          </a:xfrm>
          <a:prstGeom prst="roundRect">
            <a:avLst/>
          </a:prstGeom>
          <a:solidFill>
            <a:srgbClr val="1A5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92024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AI</a:t>
            </a:r>
            <a:br/>
            <a:r>
              <a:t>Embeddings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301752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256-dim gene vectors</a:t>
            </a:r>
            <a:br/>
            <a:r>
              <a:t>trained on 11 million</a:t>
            </a:r>
            <a:br/>
            <a:r>
              <a:t>single cells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645920"/>
            <a:ext cx="3474720" cy="3474720"/>
          </a:xfrm>
          <a:prstGeom prst="roundRect">
            <a:avLst/>
          </a:prstGeom>
          <a:solidFill>
            <a:srgbClr val="2EA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92024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External</a:t>
            </a:r>
            <a:br/>
            <a:r>
              <a:t>Databases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301752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STRING protein interactions</a:t>
            </a:r>
            <a:br/>
            <a:r>
              <a:t>LINCS perturbation data</a:t>
            </a:r>
            <a:br/>
            <a:r>
              <a:t>Super-enhancer annotations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486400"/>
            <a:ext cx="1109441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i="1">
                <a:solidFill>
                  <a:srgbClr val="1A568C"/>
                </a:solidFill>
              </a:defRPr>
            </a:pPr>
            <a:r>
              <a:t>Combined scoring delivers predictions no single approach can match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How It Works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463040"/>
            <a:ext cx="3200400" cy="640080"/>
          </a:xfrm>
          <a:prstGeom prst="roundRect">
            <a:avLst>
              <a:gd name="adj" fmla="val 15000"/>
            </a:avLst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Natural Language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214884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647487"/>
                </a:solidFill>
              </a:defRPr>
            </a:pPr>
            <a:r>
              <a:t>"Knock down MYC in T cells"</a:t>
            </a:r>
          </a:p>
        </p:txBody>
      </p:sp>
      <p:sp>
        <p:nvSpPr>
          <p:cNvPr id="8" name="Down Arrow 7"/>
          <p:cNvSpPr/>
          <p:nvPr/>
        </p:nvSpPr>
        <p:spPr>
          <a:xfrm>
            <a:off x="5897880" y="2606040"/>
            <a:ext cx="365760" cy="320040"/>
          </a:xfrm>
          <a:prstGeom prst="downArrow">
            <a:avLst/>
          </a:prstGeom>
          <a:solidFill>
            <a:srgbClr val="647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3017520"/>
            <a:ext cx="3200400" cy="1005840"/>
          </a:xfrm>
          <a:prstGeom prst="roundRect">
            <a:avLst>
              <a:gd name="adj" fmla="val 15000"/>
            </a:avLst>
          </a:prstGeom>
          <a:solidFill>
            <a:srgbClr val="1A5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Network Propagation</a:t>
            </a:r>
            <a:br/>
            <a:r>
              <a:t>BFS through regulatory edges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3017520"/>
            <a:ext cx="3200400" cy="1005840"/>
          </a:xfrm>
          <a:prstGeom prst="roundRect">
            <a:avLst>
              <a:gd name="adj" fmla="val 15000"/>
            </a:avLst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Embedding Analysis</a:t>
            </a:r>
            <a:br/>
            <a:r>
              <a:t>Cosine similarity in latent space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3017520"/>
            <a:ext cx="3200400" cy="1005840"/>
          </a:xfrm>
          <a:prstGeom prst="roundRect">
            <a:avLst>
              <a:gd name="adj" fmla="val 15000"/>
            </a:avLst>
          </a:prstGeom>
          <a:solidFill>
            <a:srgbClr val="2EA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External Validation</a:t>
            </a:r>
            <a:br/>
            <a:r>
              <a:t>STRING + LINCS lookup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1874519" y="4114800"/>
            <a:ext cx="365760" cy="320040"/>
          </a:xfrm>
          <a:prstGeom prst="downArrow">
            <a:avLst/>
          </a:prstGeom>
          <a:solidFill>
            <a:srgbClr val="647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own Arrow 12"/>
          <p:cNvSpPr/>
          <p:nvPr/>
        </p:nvSpPr>
        <p:spPr>
          <a:xfrm>
            <a:off x="5897880" y="4114800"/>
            <a:ext cx="365760" cy="320040"/>
          </a:xfrm>
          <a:prstGeom prst="downArrow">
            <a:avLst/>
          </a:prstGeom>
          <a:solidFill>
            <a:srgbClr val="647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wn Arrow 13"/>
          <p:cNvSpPr/>
          <p:nvPr/>
        </p:nvSpPr>
        <p:spPr>
          <a:xfrm>
            <a:off x="9921240" y="4114800"/>
            <a:ext cx="365760" cy="320040"/>
          </a:xfrm>
          <a:prstGeom prst="downArrow">
            <a:avLst/>
          </a:prstGeom>
          <a:solidFill>
            <a:srgbClr val="647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286000" y="4526280"/>
            <a:ext cx="7589520" cy="731520"/>
          </a:xfrm>
          <a:prstGeom prst="roundRect">
            <a:avLst>
              <a:gd name="adj" fmla="val 15000"/>
            </a:avLst>
          </a:prstGeom>
          <a:solidFill>
            <a:srgbClr val="1A5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Combined Scoring: Network Effect + Embedding Boost + Confidence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5897880" y="5349240"/>
            <a:ext cx="365760" cy="320040"/>
          </a:xfrm>
          <a:prstGeom prst="downArrow">
            <a:avLst/>
          </a:prstGeom>
          <a:solidFill>
            <a:srgbClr val="647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108960" y="5760720"/>
            <a:ext cx="5943600" cy="822960"/>
          </a:xfrm>
          <a:prstGeom prst="roundRect">
            <a:avLst>
              <a:gd name="adj" fmla="val 15000"/>
            </a:avLst>
          </a:prstGeom>
          <a:solidFill>
            <a:srgbClr val="E86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Ranked Gene List + Actionable Recommendations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Perturbation Analysis Algorithm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4630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9B9E"/>
                </a:solidFill>
              </a:defRPr>
            </a:pPr>
            <a:r>
              <a:t>Network Propagation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9202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A4A"/>
                </a:solidFill>
              </a:defRPr>
            </a:pPr>
            <a:r>
              <a:t>Walk through regulatory network using BFS. Edge weights (mutual information) determine effect strength as signal propagates.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417320"/>
            <a:ext cx="1005840" cy="457200"/>
          </a:xfrm>
          <a:prstGeom prst="roundRect">
            <a:avLst>
              <a:gd name="adj" fmla="val 15000"/>
            </a:avLst>
          </a:prstGeom>
          <a:solidFill>
            <a:srgbClr val="E86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MYC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874519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E86C2C"/>
                </a:solidFill>
              </a:defRPr>
            </a:pPr>
            <a:r>
              <a:t>effect=1.0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040880" y="1600200"/>
            <a:ext cx="457200" cy="274320"/>
          </a:xfrm>
          <a:prstGeom prst="rightArrow">
            <a:avLst/>
          </a:prstGeom>
          <a:solidFill>
            <a:srgbClr val="647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13258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7"/>
                </a:solidFill>
              </a:defRPr>
            </a:pPr>
            <a:r>
              <a:t>MI=0.8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1417320"/>
            <a:ext cx="1005840" cy="457200"/>
          </a:xfrm>
          <a:prstGeom prst="roundRect">
            <a:avLst>
              <a:gd name="adj" fmla="val 15000"/>
            </a:avLst>
          </a:prstGeom>
          <a:solidFill>
            <a:srgbClr val="1A5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Gene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1874519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A568C"/>
                </a:solidFill>
              </a:defRPr>
            </a:pPr>
            <a:r>
              <a:t>effect=0.80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686800" y="1600200"/>
            <a:ext cx="457200" cy="274320"/>
          </a:xfrm>
          <a:prstGeom prst="rightArrow">
            <a:avLst/>
          </a:prstGeom>
          <a:solidFill>
            <a:srgbClr val="647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0" y="13258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7"/>
                </a:solidFill>
              </a:defRPr>
            </a:pPr>
            <a:r>
              <a:t>MI=0.5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1417320"/>
            <a:ext cx="1005840" cy="457200"/>
          </a:xfrm>
          <a:prstGeom prst="roundRect">
            <a:avLst>
              <a:gd name="adj" fmla="val 15000"/>
            </a:avLst>
          </a:prstGeom>
          <a:solidFill>
            <a:srgbClr val="3A8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Gene 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1874519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3A8DC1"/>
                </a:solidFill>
              </a:defRPr>
            </a:pPr>
            <a:r>
              <a:t>effect=0.40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0" y="2286000"/>
            <a:ext cx="1005840" cy="457200"/>
          </a:xfrm>
          <a:prstGeom prst="roundRect">
            <a:avLst>
              <a:gd name="adj" fmla="val 15000"/>
            </a:avLst>
          </a:prstGeom>
          <a:solidFill>
            <a:srgbClr val="AAC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Gene 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274320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88AACC"/>
                </a:solidFill>
              </a:defRPr>
            </a:pPr>
            <a:r>
              <a:t>effect=0.20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1488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7"/>
                </a:solidFill>
              </a:defRPr>
            </a:pPr>
            <a:r>
              <a:t>MI=0.2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332720" y="1371600"/>
            <a:ext cx="1645920" cy="100584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78440" y="141732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2D3A4A"/>
                </a:solidFill>
              </a:defRPr>
            </a:pPr>
            <a:r>
              <a:t>1.0 × 0.8 = 0.80</a:t>
            </a:r>
          </a:p>
          <a:p>
            <a:pPr>
              <a:defRPr sz="900">
                <a:solidFill>
                  <a:srgbClr val="2D3A4A"/>
                </a:solidFill>
              </a:defRPr>
            </a:pPr>
            <a:r>
              <a:t>0.8 × 0.5 = 0.40</a:t>
            </a:r>
          </a:p>
          <a:p>
            <a:pPr>
              <a:defRPr sz="900">
                <a:solidFill>
                  <a:srgbClr val="2D3A4A"/>
                </a:solidFill>
              </a:defRPr>
            </a:pPr>
            <a:r>
              <a:t>1.0 × 0.2 = 0.20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200400"/>
            <a:ext cx="731520" cy="640080"/>
          </a:xfrm>
          <a:prstGeom prst="roundRect">
            <a:avLst>
              <a:gd name="adj" fmla="val 15000"/>
            </a:avLst>
          </a:prstGeom>
          <a:solidFill>
            <a:srgbClr val="1A5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32004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A568C"/>
                </a:solidFill>
              </a:defRPr>
            </a:pPr>
            <a:r>
              <a:t>Embedding Similarity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36118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D3A4A"/>
                </a:solidFill>
              </a:defRPr>
            </a:pPr>
            <a:r>
              <a:t>256-dim gene vectors trained on 11M cells. High cosine similarity = functionally related, even without network edge.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3200400"/>
            <a:ext cx="5486400" cy="9144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329184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3A4A"/>
                </a:solidFill>
                <a:latin typeface="Consolas"/>
              </a:defRPr>
            </a:pPr>
            <a:r>
              <a:t>MYC   [0.23, -0.15, 0.87, ...]    similarity</a:t>
            </a:r>
          </a:p>
          <a:p>
            <a:pPr>
              <a:defRPr sz="1200">
                <a:solidFill>
                  <a:srgbClr val="2D3A4A"/>
                </a:solidFill>
                <a:latin typeface="Consolas"/>
              </a:defRPr>
            </a:pPr>
            <a:r>
              <a:t>BRCA1 [0.21, -0.18, 0.85, ...]  →  0.94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297680"/>
            <a:ext cx="731520" cy="640080"/>
          </a:xfrm>
          <a:prstGeom prst="roundRect">
            <a:avLst>
              <a:gd name="adj" fmla="val 15000"/>
            </a:avLst>
          </a:prstGeom>
          <a:solidFill>
            <a:srgbClr val="2EA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42976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A06A"/>
                </a:solidFill>
              </a:defRPr>
            </a:pPr>
            <a:r>
              <a:t>Combined Scoring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47091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D3A4A"/>
                </a:solidFill>
              </a:defRPr>
            </a:pPr>
            <a:r>
              <a:t>Network provides structure, embeddings boost confidence. Captures both direct and indirect relationships.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4297680"/>
            <a:ext cx="5486400" cy="1097280"/>
          </a:xfrm>
          <a:prstGeom prst="round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443484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combined_effect =</a:t>
            </a:r>
          </a:p>
          <a:p>
            <a:pPr>
              <a:defRPr sz="1300">
                <a:solidFill>
                  <a:srgbClr val="009B9E"/>
                </a:solidFill>
              </a:defRPr>
            </a:pPr>
            <a:r>
              <a:t>    0.7 × network_effect</a:t>
            </a:r>
          </a:p>
          <a:p>
            <a:pPr>
              <a:defRPr sz="1300">
                <a:solidFill>
                  <a:srgbClr val="3A8DC1"/>
                </a:solidFill>
              </a:defRPr>
            </a:pPr>
            <a:r>
              <a:t>  + 0.3 × embedding_similarity × network_effect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6692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i="1">
                <a:solidFill>
                  <a:srgbClr val="647487"/>
                </a:solidFill>
              </a:defRPr>
            </a:pPr>
            <a:r>
              <a:t>Result: Genes ranked by predicted impact. Network-only and embedding-only effects also reported separately.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10 Cell Type Networks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2011680" cy="1828800"/>
          </a:xfrm>
          <a:prstGeom prst="roundRect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CD4+ T Cells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1645920"/>
            <a:ext cx="2011680" cy="1828800"/>
          </a:xfrm>
          <a:prstGeom prst="roundRect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2860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CD8+ T Cells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1645920"/>
            <a:ext cx="2011680" cy="1828800"/>
          </a:xfrm>
          <a:prstGeom prst="roundRect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2860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NK Cells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1645920"/>
            <a:ext cx="2011680" cy="1828800"/>
          </a:xfrm>
          <a:prstGeom prst="roundRect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2860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NKT Cells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92640" y="1645920"/>
            <a:ext cx="2011680" cy="1828800"/>
          </a:xfrm>
          <a:prstGeom prst="roundRect">
            <a:avLst/>
          </a:prstGeom>
          <a:solidFill>
            <a:srgbClr val="1A5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2860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B Cells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40480"/>
            <a:ext cx="2011680" cy="1828800"/>
          </a:xfrm>
          <a:prstGeom prst="roundRect">
            <a:avLst/>
          </a:prstGeom>
          <a:solidFill>
            <a:srgbClr val="1A5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4805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CD14+ Monocytes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34640" y="3840480"/>
            <a:ext cx="2011680" cy="1828800"/>
          </a:xfrm>
          <a:prstGeom prst="roundRect">
            <a:avLst/>
          </a:prstGeom>
          <a:solidFill>
            <a:srgbClr val="1A5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34640" y="44805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CD16+ Monocytes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20640" y="3840480"/>
            <a:ext cx="2011680" cy="1828800"/>
          </a:xfrm>
          <a:prstGeom prst="roundRect">
            <a:avLst/>
          </a:prstGeom>
          <a:solidFill>
            <a:srgbClr val="1A5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0" y="44805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Dendritic Cells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06640" y="3840480"/>
            <a:ext cx="2011680" cy="1828800"/>
          </a:xfrm>
          <a:prstGeom prst="roundRect">
            <a:avLst/>
          </a:prstGeom>
          <a:solidFill>
            <a:srgbClr val="2EA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06640" y="44805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Epithelial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92640" y="3840480"/>
            <a:ext cx="2011680" cy="1828800"/>
          </a:xfrm>
          <a:prstGeom prst="roundRect">
            <a:avLst/>
          </a:prstGeom>
          <a:solidFill>
            <a:srgbClr val="2EA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0" y="44805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Erythrocytes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035040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647487"/>
                </a:solidFill>
              </a:defRPr>
            </a:pPr>
            <a:r>
              <a:t>Pre-computed regulatory networks derived from single-cell RNA-seq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Capabilities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3566160" cy="2194560"/>
          </a:xfrm>
          <a:prstGeom prst="roundRect">
            <a:avLst/>
          </a:prstGeom>
          <a:solidFill>
            <a:srgbClr val="F5F7FA"/>
          </a:solidFill>
          <a:ln w="38100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3566160" cy="137160"/>
          </a:xfrm>
          <a:prstGeom prst="rect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3566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D3A4A"/>
                </a:solidFill>
              </a:defRPr>
            </a:pPr>
            <a:r>
              <a:t>Gene Knockdown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>
                <a:solidFill>
                  <a:srgbClr val="647487"/>
                </a:solidFill>
              </a:defRPr>
            </a:pPr>
            <a:r>
              <a:t>Predict downstream effects</a:t>
            </a:r>
            <a:br/>
            <a:r>
              <a:t>of gene silencing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54480"/>
            <a:ext cx="3566160" cy="2194560"/>
          </a:xfrm>
          <a:prstGeom prst="roundRect">
            <a:avLst/>
          </a:prstGeom>
          <a:solidFill>
            <a:srgbClr val="F5F7FA"/>
          </a:solidFill>
          <a:ln w="38100">
            <a:solidFill>
              <a:srgbClr val="1A5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554480"/>
            <a:ext cx="3566160" cy="137160"/>
          </a:xfrm>
          <a:prstGeom prst="rect">
            <a:avLst/>
          </a:prstGeom>
          <a:solidFill>
            <a:srgbClr val="1A5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920240"/>
            <a:ext cx="3566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D3A4A"/>
                </a:solidFill>
              </a:defRPr>
            </a:pPr>
            <a:r>
              <a:t>Overexpression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56032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>
                <a:solidFill>
                  <a:srgbClr val="647487"/>
                </a:solidFill>
              </a:defRPr>
            </a:pPr>
            <a:r>
              <a:t>Model increased gene</a:t>
            </a:r>
            <a:br/>
            <a:r>
              <a:t>expression impact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554480"/>
            <a:ext cx="3566160" cy="2194560"/>
          </a:xfrm>
          <a:prstGeom prst="roundRect">
            <a:avLst/>
          </a:prstGeom>
          <a:solidFill>
            <a:srgbClr val="F5F7FA"/>
          </a:solidFill>
          <a:ln w="38100">
            <a:solidFill>
              <a:srgbClr val="2EA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554480"/>
            <a:ext cx="3566160" cy="137160"/>
          </a:xfrm>
          <a:prstGeom prst="rect">
            <a:avLst/>
          </a:prstGeom>
          <a:solidFill>
            <a:srgbClr val="2EA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920240"/>
            <a:ext cx="3566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D3A4A"/>
                </a:solidFill>
              </a:defRPr>
            </a:pPr>
            <a:r>
              <a:t>Similar Genes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56032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>
                <a:solidFill>
                  <a:srgbClr val="647487"/>
                </a:solidFill>
              </a:defRPr>
            </a:pPr>
            <a:r>
              <a:t>Find functionally related</a:t>
            </a:r>
            <a:br/>
            <a:r>
              <a:t>genes via embeddings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23360"/>
            <a:ext cx="3566160" cy="2194560"/>
          </a:xfrm>
          <a:prstGeom prst="roundRect">
            <a:avLst/>
          </a:prstGeom>
          <a:solidFill>
            <a:srgbClr val="F5F7FA"/>
          </a:solidFill>
          <a:ln w="38100">
            <a:solidFill>
              <a:srgbClr val="E86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023360"/>
            <a:ext cx="3566160" cy="137160"/>
          </a:xfrm>
          <a:prstGeom prst="rect">
            <a:avLst/>
          </a:prstGeom>
          <a:solidFill>
            <a:srgbClr val="E86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389120"/>
            <a:ext cx="3566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D3A4A"/>
                </a:solidFill>
              </a:defRPr>
            </a:pPr>
            <a:r>
              <a:t>Drug Targets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0292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>
                <a:solidFill>
                  <a:srgbClr val="647487"/>
                </a:solidFill>
              </a:defRPr>
            </a:pPr>
            <a:r>
              <a:t>Identify network</a:t>
            </a:r>
            <a:br/>
            <a:r>
              <a:t>vulnerabilities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4023360"/>
            <a:ext cx="3566160" cy="2194560"/>
          </a:xfrm>
          <a:prstGeom prst="roundRect">
            <a:avLst/>
          </a:prstGeom>
          <a:solidFill>
            <a:srgbClr val="F5F7FA"/>
          </a:solidFill>
          <a:ln w="38100">
            <a:solidFill>
              <a:srgbClr val="1A5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9120" y="4023360"/>
            <a:ext cx="3566160" cy="137160"/>
          </a:xfrm>
          <a:prstGeom prst="rect">
            <a:avLst/>
          </a:prstGeom>
          <a:solidFill>
            <a:srgbClr val="1A5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0" y="4389120"/>
            <a:ext cx="3566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D3A4A"/>
                </a:solidFill>
              </a:defRPr>
            </a:pPr>
            <a:r>
              <a:t>Protein Interactions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50292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>
                <a:solidFill>
                  <a:srgbClr val="647487"/>
                </a:solidFill>
              </a:defRPr>
            </a:pPr>
            <a:r>
              <a:t>STRING database</a:t>
            </a:r>
            <a:br/>
            <a:r>
              <a:t>integration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4023360"/>
            <a:ext cx="3566160" cy="2194560"/>
          </a:xfrm>
          <a:prstGeom prst="roundRect">
            <a:avLst/>
          </a:prstGeom>
          <a:solidFill>
            <a:srgbClr val="F5F7FA"/>
          </a:solidFill>
          <a:ln w="38100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4023360"/>
            <a:ext cx="3566160" cy="137160"/>
          </a:xfrm>
          <a:prstGeom prst="rect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4389120"/>
            <a:ext cx="3566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D3A4A"/>
                </a:solidFill>
              </a:defRPr>
            </a:pPr>
            <a:r>
              <a:t>Super-Enhancers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50292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>
                <a:solidFill>
                  <a:srgbClr val="647487"/>
                </a:solidFill>
              </a:defRPr>
            </a:pPr>
            <a:r>
              <a:t>BRD4/BET inhibitor</a:t>
            </a:r>
            <a:br/>
            <a:r>
              <a:t>sensitivity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Example: APC Knockdown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645920"/>
            <a:ext cx="2194560" cy="292608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8720" y="182880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874519"/>
            <a:ext cx="548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D3A4A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4688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Query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1752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"What happens when</a:t>
            </a:r>
            <a:br/>
            <a:r>
              <a:t>APC is knocked down?"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606040" y="3017520"/>
            <a:ext cx="457200" cy="274320"/>
          </a:xfrm>
          <a:prstGeom prst="rightArrow">
            <a:avLst/>
          </a:prstGeom>
          <a:solidFill>
            <a:srgbClr val="647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697479" y="1645920"/>
            <a:ext cx="2194560" cy="2926080"/>
          </a:xfrm>
          <a:prstGeom prst="roundRect">
            <a:avLst/>
          </a:prstGeom>
          <a:solidFill>
            <a:srgbClr val="1A5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20439" y="182880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39" y="1874519"/>
            <a:ext cx="548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A568C"/>
                </a:solidFill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79" y="24688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Classify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19" y="301752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Gene type: Scaffold</a:t>
            </a:r>
            <a:br/>
            <a:r>
              <a:t>No transcriptional targets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937759" y="3017520"/>
            <a:ext cx="457200" cy="274320"/>
          </a:xfrm>
          <a:prstGeom prst="rightArrow">
            <a:avLst/>
          </a:prstGeom>
          <a:solidFill>
            <a:srgbClr val="647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200" y="1645920"/>
            <a:ext cx="2194560" cy="2926080"/>
          </a:xfrm>
          <a:prstGeom prst="roundRect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852160" y="182880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60" y="1874519"/>
            <a:ext cx="548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9B9E"/>
                </a:solidFill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24688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Suggest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301752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Analyze protein partners:</a:t>
            </a:r>
            <a:br/>
            <a:r>
              <a:t>CTNNB1, AXIN1, GSK3B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269480" y="3017520"/>
            <a:ext cx="457200" cy="274320"/>
          </a:xfrm>
          <a:prstGeom prst="rightArrow">
            <a:avLst/>
          </a:prstGeom>
          <a:solidFill>
            <a:srgbClr val="647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60919" y="1645920"/>
            <a:ext cx="2194560" cy="2926080"/>
          </a:xfrm>
          <a:prstGeom prst="roundRect">
            <a:avLst/>
          </a:prstGeom>
          <a:solidFill>
            <a:srgbClr val="2EA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183879" y="182880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83879" y="1874519"/>
            <a:ext cx="548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EA06A"/>
                </a:solidFill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60919" y="24688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Predict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59" y="301752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CTNNB1 overexpression</a:t>
            </a:r>
            <a:br/>
            <a:r>
              <a:t>2,739 genes affected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601199" y="3017520"/>
            <a:ext cx="457200" cy="274320"/>
          </a:xfrm>
          <a:prstGeom prst="rightArrow">
            <a:avLst/>
          </a:prstGeom>
          <a:solidFill>
            <a:srgbClr val="647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692640" y="1645920"/>
            <a:ext cx="2194560" cy="2926080"/>
          </a:xfrm>
          <a:prstGeom prst="roundRect">
            <a:avLst/>
          </a:prstGeom>
          <a:solidFill>
            <a:srgbClr val="E86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515600" y="182880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0" y="1874519"/>
            <a:ext cx="548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E86C2C"/>
                </a:solidFill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24688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Insight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301752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APC loss = beta-catenin</a:t>
            </a:r>
            <a:br/>
            <a:r>
              <a:t>accumulation = oncogenesis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4846320"/>
            <a:ext cx="110944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i="1">
                <a:solidFill>
                  <a:srgbClr val="1A568C"/>
                </a:solidFill>
              </a:defRPr>
            </a:pPr>
            <a:r>
              <a:t>Intelligent routing guides users from scaffold proteins to transcriptionally active partners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Use Cases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2743200" cy="4114800"/>
          </a:xfrm>
          <a:prstGeom prst="roundRect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Immunotherapy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606040"/>
            <a:ext cx="18288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83464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Discover targets in tumor</a:t>
            </a:r>
            <a:br/>
            <a:r>
              <a:t>microenvironment across</a:t>
            </a:r>
            <a:br/>
            <a:r>
              <a:t>immune cell types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554480"/>
            <a:ext cx="2743200" cy="4114800"/>
          </a:xfrm>
          <a:prstGeom prst="roundRect">
            <a:avLst/>
          </a:prstGeom>
          <a:solidFill>
            <a:srgbClr val="1A5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8288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CAR-T Engineering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0" y="2606040"/>
            <a:ext cx="18288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283464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Understand exhaustion</a:t>
            </a:r>
            <a:br/>
            <a:r>
              <a:t>and persistence pathways</a:t>
            </a:r>
            <a:br/>
            <a:r>
              <a:t>in T cell networks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554480"/>
            <a:ext cx="2743200" cy="4114800"/>
          </a:xfrm>
          <a:prstGeom prst="roundRect">
            <a:avLst/>
          </a:prstGeom>
          <a:solidFill>
            <a:srgbClr val="2EA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8288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CRISPR Prioritization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66560" y="2606040"/>
            <a:ext cx="18288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83464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Predict perturbation</a:t>
            </a:r>
            <a:br/>
            <a:r>
              <a:t>effects before costly</a:t>
            </a:r>
            <a:br/>
            <a:r>
              <a:t>wet lab validation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554480"/>
            <a:ext cx="2743200" cy="4114800"/>
          </a:xfrm>
          <a:prstGeom prst="roundRect">
            <a:avLst/>
          </a:prstGeom>
          <a:solidFill>
            <a:srgbClr val="E86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18288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Target Validation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92640" y="2606040"/>
            <a:ext cx="18288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283464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Compare candidates</a:t>
            </a:r>
            <a:br/>
            <a:r>
              <a:t>using network vulnerability</a:t>
            </a:r>
            <a:br/>
            <a:r>
              <a:t>and druggability scores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Performance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2651760" cy="32004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26517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9B9E"/>
                </a:solidFill>
              </a:defRPr>
            </a:pPr>
            <a:r>
              <a:t>&lt; 3 sec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D3A4A"/>
                </a:solidFill>
              </a:defRPr>
            </a:pPr>
            <a:r>
              <a:t>Full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647487"/>
                </a:solidFill>
              </a:defRPr>
            </a:pPr>
            <a:r>
              <a:t>GPU-accelerated</a:t>
            </a:r>
            <a:br/>
            <a:r>
              <a:t>perturbation prediction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645920"/>
            <a:ext cx="2651760" cy="32004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828800"/>
            <a:ext cx="26517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9B9E"/>
                </a:solidFill>
              </a:defRPr>
            </a:pPr>
            <a:r>
              <a:t>19,247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92608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D3A4A"/>
                </a:solidFill>
              </a:defRPr>
            </a:pPr>
            <a:r>
              <a:t>Genes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4747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647487"/>
                </a:solidFill>
              </a:defRPr>
            </a:pPr>
            <a:r>
              <a:t>Complete coverage in</a:t>
            </a:r>
            <a:br/>
            <a:r>
              <a:t>embedding space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645920"/>
            <a:ext cx="2651760" cy="32004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828800"/>
            <a:ext cx="26517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9B9E"/>
                </a:solidFill>
              </a:defRPr>
            </a:pPr>
            <a:r>
              <a:t>11M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92608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D3A4A"/>
                </a:solidFill>
              </a:defRPr>
            </a:pPr>
            <a:r>
              <a:t>Cells Trained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4747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647487"/>
                </a:solidFill>
              </a:defRPr>
            </a:pPr>
            <a:r>
              <a:t>Deep learning on</a:t>
            </a:r>
            <a:br/>
            <a:r>
              <a:t>massive single-cell data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0" y="1645920"/>
            <a:ext cx="2651760" cy="32004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0" y="1828800"/>
            <a:ext cx="26517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9B9E"/>
                </a:solidFill>
              </a:defRPr>
            </a:pPr>
            <a: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292608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D3A4A"/>
                </a:solidFill>
              </a:defRPr>
            </a:pPr>
            <a:r>
              <a:t>Cell Types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34747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647487"/>
                </a:solidFill>
              </a:defRPr>
            </a:pPr>
            <a:r>
              <a:t>Immune &amp; cancer-relevant</a:t>
            </a:r>
            <a:br/>
            <a:r>
              <a:t>networks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20640"/>
            <a:ext cx="11094415" cy="914400"/>
          </a:xfrm>
          <a:prstGeom prst="roundRect">
            <a:avLst/>
          </a:prstGeom>
          <a:solidFill>
            <a:srgbClr val="1A5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349240"/>
            <a:ext cx="110944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Caching and lazy loading ensure fast repeated queries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Seamless Integration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86000"/>
            <a:ext cx="2286000" cy="1097280"/>
          </a:xfrm>
          <a:prstGeom prst="roundRect">
            <a:avLst>
              <a:gd name="adj" fmla="val 15000"/>
            </a:avLst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Researcher</a:t>
            </a:r>
            <a:br/>
            <a:r>
              <a:t>(Natural Language)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834640" y="2743200"/>
            <a:ext cx="457200" cy="274320"/>
          </a:xfrm>
          <a:prstGeom prst="rightArrow">
            <a:avLst/>
          </a:prstGeom>
          <a:solidFill>
            <a:srgbClr val="647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83280" y="2286000"/>
            <a:ext cx="2286000" cy="1097280"/>
          </a:xfrm>
          <a:prstGeom prst="roundRect">
            <a:avLst>
              <a:gd name="adj" fmla="val 15000"/>
            </a:avLst>
          </a:prstGeom>
          <a:solidFill>
            <a:srgbClr val="1A5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Claude AI</a:t>
            </a:r>
            <a:br/>
            <a:r>
              <a:t>(MCP Client)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760720" y="2743200"/>
            <a:ext cx="457200" cy="274320"/>
          </a:xfrm>
          <a:prstGeom prst="rightArrow">
            <a:avLst/>
          </a:prstGeom>
          <a:solidFill>
            <a:srgbClr val="647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09360" y="2286000"/>
            <a:ext cx="2286000" cy="1097280"/>
          </a:xfrm>
          <a:prstGeom prst="roundRect">
            <a:avLst>
              <a:gd name="adj" fmla="val 15000"/>
            </a:avLst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GREmLN</a:t>
            </a:r>
            <a:br/>
            <a:r>
              <a:t>(MCP Server)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686800" y="2743200"/>
            <a:ext cx="457200" cy="274320"/>
          </a:xfrm>
          <a:prstGeom prst="rightArrow">
            <a:avLst/>
          </a:prstGeom>
          <a:solidFill>
            <a:srgbClr val="647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235440" y="2286000"/>
            <a:ext cx="2286000" cy="1097280"/>
          </a:xfrm>
          <a:prstGeom prst="roundRect">
            <a:avLst>
              <a:gd name="adj" fmla="val 15000"/>
            </a:avLst>
          </a:prstGeom>
          <a:solidFill>
            <a:srgbClr val="2EA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Predictions</a:t>
            </a:r>
            <a:br/>
            <a:r>
              <a:t>&amp; Insights</a:t>
            </a:r>
          </a:p>
        </p:txBody>
      </p:sp>
      <p:sp>
        <p:nvSpPr>
          <p:cNvPr id="13" name="Oval 12"/>
          <p:cNvSpPr/>
          <p:nvPr/>
        </p:nvSpPr>
        <p:spPr>
          <a:xfrm>
            <a:off x="2286000" y="3931920"/>
            <a:ext cx="320040" cy="320040"/>
          </a:xfrm>
          <a:prstGeom prst="ellipse">
            <a:avLst/>
          </a:prstGeom>
          <a:solidFill>
            <a:srgbClr val="2EA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0" y="3931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D3A4A"/>
                </a:solidFill>
              </a:defRPr>
            </a:pPr>
            <a:r>
              <a:t>Model Context Protocol (MCP) standard</a:t>
            </a:r>
          </a:p>
        </p:txBody>
      </p:sp>
      <p:sp>
        <p:nvSpPr>
          <p:cNvPr id="15" name="Oval 14"/>
          <p:cNvSpPr/>
          <p:nvPr/>
        </p:nvSpPr>
        <p:spPr>
          <a:xfrm>
            <a:off x="2286000" y="4572000"/>
            <a:ext cx="320040" cy="320040"/>
          </a:xfrm>
          <a:prstGeom prst="ellipse">
            <a:avLst/>
          </a:prstGeom>
          <a:solidFill>
            <a:srgbClr val="2EA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0" y="45720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D3A4A"/>
                </a:solidFill>
              </a:defRPr>
            </a:pPr>
            <a:r>
              <a:t>Natural language interface - no coding required</a:t>
            </a:r>
          </a:p>
        </p:txBody>
      </p:sp>
      <p:sp>
        <p:nvSpPr>
          <p:cNvPr id="17" name="Oval 16"/>
          <p:cNvSpPr/>
          <p:nvPr/>
        </p:nvSpPr>
        <p:spPr>
          <a:xfrm>
            <a:off x="2286000" y="5212079"/>
            <a:ext cx="320040" cy="320040"/>
          </a:xfrm>
          <a:prstGeom prst="ellipse">
            <a:avLst/>
          </a:prstGeom>
          <a:solidFill>
            <a:srgbClr val="2EA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0" y="5212079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D3A4A"/>
                </a:solidFill>
              </a:defRPr>
            </a:pPr>
            <a:r>
              <a:t>Extensible tool framework for custom analyses</a:t>
            </a:r>
          </a:p>
        </p:txBody>
      </p:sp>
      <p:sp>
        <p:nvSpPr>
          <p:cNvPr id="19" name="Oval 18"/>
          <p:cNvSpPr/>
          <p:nvPr/>
        </p:nvSpPr>
        <p:spPr>
          <a:xfrm>
            <a:off x="2286000" y="5852159"/>
            <a:ext cx="320040" cy="320040"/>
          </a:xfrm>
          <a:prstGeom prst="ellipse">
            <a:avLst/>
          </a:prstGeom>
          <a:solidFill>
            <a:srgbClr val="2EA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0" y="5852159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D3A4A"/>
                </a:solidFill>
              </a:defRPr>
            </a:pPr>
            <a:r>
              <a:t>Claude Desktop and Claude Code compatible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Why GREmLN?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37160" cy="822960"/>
          </a:xfrm>
          <a:prstGeom prst="rect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9B9E"/>
                </a:solidFill>
              </a:defRPr>
            </a:pPr>
            <a:r>
              <a:t>Accelerate Discovery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745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D3A4A"/>
                </a:solidFill>
              </a:defRPr>
            </a:pPr>
            <a:r>
              <a:t>Predict perturbation effects in seconds, not weeks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23160"/>
            <a:ext cx="137160" cy="822960"/>
          </a:xfrm>
          <a:prstGeom prst="rect">
            <a:avLst/>
          </a:prstGeom>
          <a:solidFill>
            <a:srgbClr val="1A5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42316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568C"/>
                </a:solidFill>
              </a:defRPr>
            </a:pPr>
            <a:r>
              <a:t>Reduce Costs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346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D3A4A"/>
                </a:solidFill>
              </a:defRPr>
            </a:pPr>
            <a:r>
              <a:t>Prioritize experiments before wet lab validation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383280"/>
            <a:ext cx="137160" cy="822960"/>
          </a:xfrm>
          <a:prstGeom prst="rect">
            <a:avLst/>
          </a:prstGeom>
          <a:solidFill>
            <a:srgbClr val="2EA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383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EA06A"/>
                </a:solidFill>
              </a:defRPr>
            </a:pPr>
            <a:r>
              <a:t>Increase Confidence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7947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D3A4A"/>
                </a:solidFill>
              </a:defRPr>
            </a:pPr>
            <a:r>
              <a:t>AI + network analysis for robust predictions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343400"/>
            <a:ext cx="137160" cy="822960"/>
          </a:xfrm>
          <a:prstGeom prst="rect">
            <a:avLst/>
          </a:prstGeom>
          <a:solidFill>
            <a:srgbClr val="E86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34340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86C2C"/>
                </a:solidFill>
              </a:defRPr>
            </a:pPr>
            <a:r>
              <a:t>Enable Innovation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D3A4A"/>
                </a:solidFill>
              </a:defRPr>
            </a:pPr>
            <a:r>
              <a:t>Natural language interface democratizes access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0" y="5303520"/>
            <a:ext cx="6705295" cy="914400"/>
          </a:xfrm>
          <a:prstGeom prst="roundRect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0" y="5532120"/>
            <a:ext cx="6705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Ready to transform your drug discovery pipeline?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1828800" y="5029200"/>
            <a:ext cx="7315200" cy="2286000"/>
          </a:xfrm>
          <a:prstGeom prst="parallelogram">
            <a:avLst/>
          </a:prstGeom>
          <a:solidFill>
            <a:srgbClr val="1A568C">
              <a:lumMod val="90000"/>
              <a:lumOff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7315200" y="-457200"/>
            <a:ext cx="6400800" cy="1828800"/>
          </a:xfrm>
          <a:prstGeom prst="parallelogram">
            <a:avLst/>
          </a:prstGeom>
          <a:solidFill>
            <a:srgbClr val="009B9E">
              <a:lumMod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728655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>
                <a:solidFill>
                  <a:srgbClr val="009B9E"/>
                </a:solidFill>
              </a:defRPr>
            </a:pPr>
            <a:r>
              <a:t>Let's Discuss Your Use Case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