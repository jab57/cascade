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5029200"/>
            <a:ext cx="7315200" cy="2286000"/>
          </a:xfrm>
          <a:prstGeom prst="parallelogram">
            <a:avLst/>
          </a:prstGeom>
          <a:solidFill>
            <a:srgbClr val="1A568C">
              <a:lumMod val="90000"/>
              <a:lumOff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7315200" y="-457200"/>
            <a:ext cx="6400800" cy="1828800"/>
          </a:xfrm>
          <a:prstGeom prst="parallelogram">
            <a:avLst/>
          </a:prstGeom>
          <a:solidFill>
            <a:srgbClr val="009B9E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GREmLN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9B9E"/>
                </a:solidFill>
              </a:defRPr>
            </a:pPr>
            <a:r>
              <a:t>AI-Powered Gene Perturbation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i="1">
                <a:solidFill>
                  <a:srgbClr val="AABBCC"/>
                </a:solidFill>
              </a:defRPr>
            </a:pPr>
            <a:r>
              <a:t>Accelerating Drug Discovery with In Silico Predictions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$2.6B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Average cost to</a:t>
            </a:r>
            <a:br/>
            <a:r>
              <a:t>bring a drug to market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Failure rate in</a:t>
            </a:r>
            <a:br/>
            <a:r>
              <a:t>clinical trials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10+ Years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Typical drug</a:t>
            </a:r>
            <a:br/>
            <a:r>
              <a:t>development timeline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828800"/>
            <a:ext cx="2560320" cy="2194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E86C2C"/>
                </a:solidFill>
              </a:defRPr>
            </a:pPr>
            <a:r>
              <a:t>1000s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D3A4A"/>
                </a:solidFill>
              </a:defRPr>
            </a:pPr>
            <a:r>
              <a:t>Genes to screen</a:t>
            </a:r>
            <a:br/>
            <a:r>
              <a:t>per indication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A568C"/>
                </a:solidFill>
              </a:defRPr>
            </a:pPr>
            <a:r>
              <a:t>What if you could predict perturbation effects before going to the lab?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Solution: GREmLN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3474720" cy="347472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Regulatory</a:t>
            </a:r>
            <a:br/>
            <a:r>
              <a:t>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Pre-computed gene</a:t>
            </a:r>
            <a:br/>
            <a:r>
              <a:t>regulatory networks from</a:t>
            </a:r>
            <a:br/>
            <a:r>
              <a:t>single-cell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3474720" cy="347472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AI</a:t>
            </a:r>
            <a:br/>
            <a:r>
              <a:t>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256-dim gene vectors</a:t>
            </a:r>
            <a:br/>
            <a:r>
              <a:t>trained on 11 million</a:t>
            </a:r>
            <a:br/>
            <a:r>
              <a:t>single cells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645920"/>
            <a:ext cx="3474720" cy="347472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External</a:t>
            </a:r>
            <a:br/>
            <a:r>
              <a:t>Databases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STRING protein interactions</a:t>
            </a:r>
            <a:br/>
            <a:r>
              <a:t>LINCS perturbation data</a:t>
            </a:r>
            <a:br/>
            <a:r>
              <a:t>Super-enhancer annotations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1A568C"/>
                </a:solidFill>
              </a:defRPr>
            </a:pPr>
            <a:r>
              <a:t>Combined scoring delivers predictions no single approach can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Natural Language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1488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647487"/>
                </a:solidFill>
              </a:defRPr>
            </a:pPr>
            <a:r>
              <a:t>"Knock down MYC in T cells"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97880" y="260604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Network Propagation</a:t>
            </a:r>
            <a:br/>
            <a:r>
              <a:t>BFS through regulatory edges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Embedding Analysis</a:t>
            </a:r>
            <a:br/>
            <a:r>
              <a:t>Cosine similarity in latent 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External Validation</a:t>
            </a:r>
            <a:br/>
            <a:r>
              <a:t>STRING + LINCS lookup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874519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5897880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9921240" y="411480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86000" y="4526280"/>
            <a:ext cx="7589520" cy="73152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Combined Scoring: Network Effect + Embedding Boost + Confidence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97880" y="5349240"/>
            <a:ext cx="365760" cy="320040"/>
          </a:xfrm>
          <a:prstGeom prst="down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08960" y="5760720"/>
            <a:ext cx="5943600" cy="822960"/>
          </a:xfrm>
          <a:prstGeom prst="roundRect">
            <a:avLst>
              <a:gd name="adj" fmla="val 15000"/>
            </a:avLst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Ranked Gene List + Actionable Recommendations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10 Cell Type Networks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CD4+ T Cells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CD8+ T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 Cells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645920"/>
            <a:ext cx="2011680" cy="1828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NKT Cells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64592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 Cells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CD14+ Monocytes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CD16+ Monocytes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0" y="3840480"/>
            <a:ext cx="2011680" cy="1828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Dendritic Cells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3840480"/>
            <a:ext cx="2011680" cy="1828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Epithelial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3840480"/>
            <a:ext cx="2011680" cy="1828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Erythrocytes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47487"/>
                </a:solidFill>
              </a:defRPr>
            </a:pPr>
            <a:r>
              <a:t>Pre-computed regulatory networks derived from single-cell RNA-seq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Capabilities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566160" cy="13716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Gene Knockdown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Predict downstream effects</a:t>
            </a:r>
            <a:br/>
            <a:r>
              <a:t>of gene silencing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1A5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554480"/>
            <a:ext cx="3566160" cy="1371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Overexpression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Model increased gene</a:t>
            </a:r>
            <a:br/>
            <a:r>
              <a:t>expression impact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55448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2EA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554480"/>
            <a:ext cx="3566160" cy="137160"/>
          </a:xfrm>
          <a:prstGeom prst="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Similar Genes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Find functionally related</a:t>
            </a:r>
            <a:br/>
            <a:r>
              <a:t>genes via embeddings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E86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3566160" cy="137160"/>
          </a:xfrm>
          <a:prstGeom prst="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Drug Targets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Identify network</a:t>
            </a:r>
            <a:br/>
            <a:r>
              <a:t>vulnerabilities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1A5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4023360"/>
            <a:ext cx="3566160" cy="1371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Protein Interactions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STRING database</a:t>
            </a:r>
            <a:br/>
            <a:r>
              <a:t>integration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023360"/>
            <a:ext cx="3566160" cy="219456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009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4023360"/>
            <a:ext cx="3566160" cy="13716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Super-Enhancers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47487"/>
                </a:solidFill>
              </a:defRPr>
            </a:pPr>
            <a:r>
              <a:t>BRD4/BET inhibitor</a:t>
            </a:r>
            <a:br/>
            <a:r>
              <a:t>sensitivity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Example: APC Knockdown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2194560" cy="2926080"/>
          </a:xfrm>
          <a:prstGeom prst="round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2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3A4A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"What happens when</a:t>
            </a:r>
            <a:br/>
            <a:r>
              <a:t>APC is knocked down?"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97479" y="1645920"/>
            <a:ext cx="2194560" cy="292608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2043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3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A568C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7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Classify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1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Gene type: Scaffold</a:t>
            </a:r>
            <a:br/>
            <a:r>
              <a:t>No transcriptional targets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37759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0" y="1645920"/>
            <a:ext cx="2194560" cy="292608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9B9E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Suggest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Analyze protein partners:</a:t>
            </a:r>
            <a:br/>
            <a:r>
              <a:t>CTNNB1, AXIN1, GSK3B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269480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0919" y="1645920"/>
            <a:ext cx="2194560" cy="292608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8387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EA06A"/>
                </a:solidFill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1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Predict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5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CTNNB1 overexpression</a:t>
            </a:r>
            <a:br/>
            <a:r>
              <a:t>2,739 genes affected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601199" y="301752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92640" y="1645920"/>
            <a:ext cx="2194560" cy="2926080"/>
          </a:xfrm>
          <a:prstGeom prst="round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1560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E86C2C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APC loss = beta-catenin</a:t>
            </a:r>
            <a:br/>
            <a:r>
              <a:t>accumulation = oncogenesis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4632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1A568C"/>
                </a:solidFill>
              </a:defRPr>
            </a:pPr>
            <a:r>
              <a:t>Intelligent routing guides users from scaffold proteins to transcriptionally active partners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Use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41148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Immunotherapy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Discover targets in tumor</a:t>
            </a:r>
            <a:br/>
            <a:r>
              <a:t>microenvironment across</a:t>
            </a:r>
            <a:br/>
            <a:r>
              <a:t>immune cell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41148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CAR-T 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Understand exhaustion</a:t>
            </a:r>
            <a:br/>
            <a:r>
              <a:t>and persistence pathways</a:t>
            </a:r>
            <a:br/>
            <a:r>
              <a:t>in T cell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4114800"/>
          </a:xfrm>
          <a:prstGeom prst="round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CRISPR Prioritization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Predict perturbation</a:t>
            </a:r>
            <a:br/>
            <a:r>
              <a:t>effects before costly</a:t>
            </a:r>
            <a:br/>
            <a:r>
              <a:t>wet lab validation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743200" cy="4114800"/>
          </a:xfrm>
          <a:prstGeom prst="round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Target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9264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Compare candidates</a:t>
            </a:r>
            <a:br/>
            <a:r>
              <a:t>using network vulnerability</a:t>
            </a:r>
            <a:br/>
            <a:r>
              <a:t>and druggability scores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Performance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&lt; 3 sec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Full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GPU-accelerated</a:t>
            </a:r>
            <a:br/>
            <a:r>
              <a:t>perturbation prediction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19,247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Genes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Complete coverage in</a:t>
            </a:r>
            <a:br/>
            <a:r>
              <a:t>embedding space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11M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Cells Trained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Deep learning on</a:t>
            </a:r>
            <a:br/>
            <a:r>
              <a:t>massive single-cell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645920"/>
            <a:ext cx="2651760" cy="3200400"/>
          </a:xfrm>
          <a:prstGeom prst="round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9B9E"/>
                </a:solidFill>
              </a:defRPr>
            </a:pPr>
            <a: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D3A4A"/>
                </a:solidFill>
              </a:defRPr>
            </a:pPr>
            <a:r>
              <a:t>Cell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47487"/>
                </a:solidFill>
              </a:defRPr>
            </a:pPr>
            <a:r>
              <a:t>Immune &amp; cancer-relevant</a:t>
            </a:r>
            <a:br/>
            <a:r>
              <a:t>networks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20640"/>
            <a:ext cx="11094415" cy="914400"/>
          </a:xfrm>
          <a:prstGeom prst="round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Caching and lazy loading ensure fast repeated queries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Seamless Integration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Researcher</a:t>
            </a:r>
            <a:br/>
            <a:r>
              <a:t>(Natural Language)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3464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Claude AI</a:t>
            </a:r>
            <a:br/>
            <a:r>
              <a:t>(MCP Client)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6072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GREmLN</a:t>
            </a:r>
            <a:br/>
            <a:r>
              <a:t>(MCP Server)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686800" y="2743200"/>
            <a:ext cx="457200" cy="274320"/>
          </a:xfrm>
          <a:prstGeom prst="rightArrow">
            <a:avLst/>
          </a:prstGeom>
          <a:solidFill>
            <a:srgbClr val="6474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Predictions</a:t>
            </a:r>
            <a:br/>
            <a:r>
              <a:t>&amp; Insights</a:t>
            </a:r>
          </a:p>
        </p:txBody>
      </p:sp>
      <p:sp>
        <p:nvSpPr>
          <p:cNvPr id="13" name="Oval 12"/>
          <p:cNvSpPr/>
          <p:nvPr/>
        </p:nvSpPr>
        <p:spPr>
          <a:xfrm>
            <a:off x="2286000" y="3931920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Model Context Protocol (MCP) standard</a:t>
            </a:r>
          </a:p>
        </p:txBody>
      </p:sp>
      <p:sp>
        <p:nvSpPr>
          <p:cNvPr id="15" name="Oval 14"/>
          <p:cNvSpPr/>
          <p:nvPr/>
        </p:nvSpPr>
        <p:spPr>
          <a:xfrm>
            <a:off x="2286000" y="4572000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Natural language interface - no coding required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5212079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521207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Extensible tool framework for custom analyses</a:t>
            </a:r>
          </a:p>
        </p:txBody>
      </p:sp>
      <p:sp>
        <p:nvSpPr>
          <p:cNvPr id="19" name="Oval 18"/>
          <p:cNvSpPr/>
          <p:nvPr/>
        </p:nvSpPr>
        <p:spPr>
          <a:xfrm>
            <a:off x="2286000" y="5852159"/>
            <a:ext cx="320040" cy="320040"/>
          </a:xfrm>
          <a:prstGeom prst="ellipse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585215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D3A4A"/>
                </a:solidFill>
              </a:defRPr>
            </a:pPr>
            <a:r>
              <a:t>Claude Desktop and Claude Code compatible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GREmLN?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37160" cy="822960"/>
          </a:xfrm>
          <a:prstGeom prst="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9B9E"/>
                </a:solidFill>
              </a:defRPr>
            </a:pPr>
            <a:r>
              <a:t>Accelerate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Predict perturbation effects in seconds, not weeks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37160" cy="8229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568C"/>
                </a:solidFill>
              </a:defRPr>
            </a:pPr>
            <a:r>
              <a:t>Reduce Costs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Prioritize experiments before wet lab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83280"/>
            <a:ext cx="137160" cy="822960"/>
          </a:xfrm>
          <a:prstGeom prst="rect">
            <a:avLst/>
          </a:prstGeom>
          <a:solidFill>
            <a:srgbClr val="2EA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A06A"/>
                </a:solidFill>
              </a:defRPr>
            </a:pPr>
            <a:r>
              <a:t>Increase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AI + network analysis for robust 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343400"/>
            <a:ext cx="137160" cy="822960"/>
          </a:xfrm>
          <a:prstGeom prst="rect">
            <a:avLst/>
          </a:prstGeom>
          <a:solidFill>
            <a:srgbClr val="E86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434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86C2C"/>
                </a:solidFill>
              </a:defRPr>
            </a:pPr>
            <a:r>
              <a:t>Enable Innovation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D3A4A"/>
                </a:solidFill>
              </a:defRPr>
            </a:pPr>
            <a:r>
              <a:t>Natural language interface democratizes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5303520"/>
            <a:ext cx="6705295" cy="914400"/>
          </a:xfrm>
          <a:prstGeom prst="roundRect">
            <a:avLst/>
          </a:prstGeom>
          <a:solidFill>
            <a:srgbClr val="009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5532120"/>
            <a:ext cx="6705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Ready to transform your drug discovery pipeline?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5029200"/>
            <a:ext cx="7315200" cy="2286000"/>
          </a:xfrm>
          <a:prstGeom prst="parallelogram">
            <a:avLst/>
          </a:prstGeom>
          <a:solidFill>
            <a:srgbClr val="1A568C">
              <a:lumMod val="90000"/>
              <a:lumOff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7315200" y="-457200"/>
            <a:ext cx="6400800" cy="1828800"/>
          </a:xfrm>
          <a:prstGeom prst="parallelogram">
            <a:avLst/>
          </a:prstGeom>
          <a:solidFill>
            <a:srgbClr val="009B9E">
              <a:lumMod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9B9E"/>
                </a:solidFill>
              </a:defRPr>
            </a:pPr>
            <a:r>
              <a:t>Let's Discuss Your Use Case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