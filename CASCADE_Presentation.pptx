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2743200" y="4572000"/>
            <a:ext cx="9144000" cy="2743200"/>
          </a:xfrm>
          <a:prstGeom prst="parallelogram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6400800" y="-914400"/>
            <a:ext cx="7315200" cy="2286000"/>
          </a:xfrm>
          <a:prstGeom prst="parallelogram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0" y="4572000"/>
            <a:ext cx="2743200" cy="2743200"/>
          </a:xfrm>
          <a:prstGeom prst="ellipse">
            <a:avLst/>
          </a:prstGeom>
          <a:solidFill>
            <a:srgbClr val="9D4EDD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914400" y="-914400"/>
            <a:ext cx="2286000" cy="2286000"/>
          </a:xfrm>
          <a:prstGeom prst="ellipse">
            <a:avLst/>
          </a:prstGeom>
          <a:solidFill>
            <a:srgbClr val="00D4AA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728655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</a:defRPr>
            </a:pPr>
            <a:r>
              <a:t>CASCADE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>
                <a:solidFill>
                  <a:srgbClr val="00D4AA"/>
                </a:solidFill>
              </a:defRPr>
            </a:pPr>
            <a:r>
              <a:t>Computational Analysis of Simulated Cell And Drug Effects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i="1">
                <a:solidFill>
                  <a:srgbClr val="AABBCC"/>
                </a:solidFill>
              </a:defRPr>
            </a:pPr>
            <a:r>
              <a:t>AI-Powered In Silico Gene Perturbation for Drug Discovery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10800000">
            <a:off x="10515600" y="5760720"/>
            <a:ext cx="1676095" cy="1097280"/>
          </a:xfrm>
          <a:prstGeom prst="rtTriangle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Challenge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2560320" cy="219456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6B6B"/>
                </a:solidFill>
              </a:defRPr>
            </a:pPr>
            <a:r>
              <a:t>$2.6B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2C3E50"/>
                </a:solidFill>
              </a:defRPr>
            </a:pPr>
            <a:r>
              <a:t>Average cost to</a:t>
            </a:r>
            <a:br/>
            <a:r>
              <a:t>bring a drug to market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828800"/>
            <a:ext cx="2560320" cy="219456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210312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6B6B"/>
                </a:solidFill>
              </a:defRPr>
            </a:pPr>
            <a:r>
              <a:t>90%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0175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2C3E50"/>
                </a:solidFill>
              </a:defRPr>
            </a:pPr>
            <a:r>
              <a:t>Failure rate in</a:t>
            </a:r>
            <a:br/>
            <a:r>
              <a:t>clinical trials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828800"/>
            <a:ext cx="2560320" cy="219456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10312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6B6B"/>
                </a:solidFill>
              </a:defRPr>
            </a:pPr>
            <a:r>
              <a:t>10+ Years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0175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2C3E50"/>
                </a:solidFill>
              </a:defRPr>
            </a:pPr>
            <a:r>
              <a:t>Typical drug</a:t>
            </a:r>
            <a:br/>
            <a:r>
              <a:t>development timeline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828800"/>
            <a:ext cx="2560320" cy="219456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210312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6B6B"/>
                </a:solidFill>
              </a:defRPr>
            </a:pPr>
            <a:r>
              <a:t>1000s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30175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2C3E50"/>
                </a:solidFill>
              </a:defRPr>
            </a:pPr>
            <a:r>
              <a:t>Genes to screen</a:t>
            </a:r>
            <a:br/>
            <a:r>
              <a:t>per indication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57200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6213E"/>
                </a:solidFill>
              </a:defRPr>
            </a:pPr>
            <a:r>
              <a:t>What if you could predict perturbation effects before going to the lab?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10800000">
            <a:off x="10515600" y="5760720"/>
            <a:ext cx="1676095" cy="1097280"/>
          </a:xfrm>
          <a:prstGeom prst="rtTriangle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Solution: CASCADE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645920"/>
            <a:ext cx="2743200" cy="3474720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9202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Regulatory</a:t>
            </a:r>
            <a:br/>
            <a:r>
              <a:t>Networks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752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Pre-computed gene</a:t>
            </a:r>
            <a:br/>
            <a:r>
              <a:t>regulatory networks from</a:t>
            </a:r>
            <a:br/>
            <a:r>
              <a:t>single-cell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645920"/>
            <a:ext cx="2743200" cy="34747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19202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AI</a:t>
            </a:r>
            <a:br/>
            <a:r>
              <a:t>Embeddings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01752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256-dim gene vectors</a:t>
            </a:r>
            <a:br/>
            <a:r>
              <a:t>trained on 11 million</a:t>
            </a:r>
            <a:br/>
            <a:r>
              <a:t>single cells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45920"/>
            <a:ext cx="2743200" cy="3474720"/>
          </a:xfrm>
          <a:prstGeom prst="round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9202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External</a:t>
            </a:r>
            <a:br/>
            <a:r>
              <a:t>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01752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STRING, LINCS,</a:t>
            </a:r>
            <a:br/>
            <a:r>
              <a:t>Super-enhancers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1645920"/>
            <a:ext cx="2743200" cy="3474720"/>
          </a:xfrm>
          <a:prstGeom prst="roundRect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19202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LLM</a:t>
            </a:r>
            <a:br/>
            <a:r>
              <a:t>Insights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301752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Ollama-powered</a:t>
            </a:r>
            <a:br/>
            <a:r>
              <a:t>biological interpretation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486400"/>
            <a:ext cx="1109441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i="1">
                <a:solidFill>
                  <a:srgbClr val="16213E"/>
                </a:solidFill>
              </a:defRPr>
            </a:pPr>
            <a:r>
              <a:t>Combined scoring delivers predictions no single approach can match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10800000">
            <a:off x="10515600" y="5760720"/>
            <a:ext cx="1676095" cy="1097280"/>
          </a:xfrm>
          <a:prstGeom prst="rtTriangle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How It Works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63040"/>
            <a:ext cx="3200400" cy="640080"/>
          </a:xfrm>
          <a:prstGeom prst="roundRect">
            <a:avLst>
              <a:gd name="adj" fmla="val 15000"/>
            </a:avLst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Natural Language Query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214884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6C757D"/>
                </a:solidFill>
              </a:defRPr>
            </a:pPr>
            <a:r>
              <a:t>"Knock down MYC in T cells"</a:t>
            </a:r>
          </a:p>
        </p:txBody>
      </p:sp>
      <p:sp>
        <p:nvSpPr>
          <p:cNvPr id="9" name="Down Arrow 8"/>
          <p:cNvSpPr/>
          <p:nvPr/>
        </p:nvSpPr>
        <p:spPr>
          <a:xfrm>
            <a:off x="5897880" y="2606040"/>
            <a:ext cx="365760" cy="320040"/>
          </a:xfrm>
          <a:prstGeom prst="downArrow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3017520"/>
            <a:ext cx="3200400" cy="1005840"/>
          </a:xfrm>
          <a:prstGeom prst="roundRect">
            <a:avLst>
              <a:gd name="adj" fmla="val 1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Network Propagation</a:t>
            </a:r>
            <a:br/>
            <a:r>
              <a:t>BFS through regulatory edges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17520"/>
            <a:ext cx="3200400" cy="1005840"/>
          </a:xfrm>
          <a:prstGeom prst="roundRect">
            <a:avLst>
              <a:gd name="adj" fmla="val 15000"/>
            </a:avLst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Embedding Analysis</a:t>
            </a:r>
            <a:br/>
            <a:r>
              <a:t>Cosine similarity in latent space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3017520"/>
            <a:ext cx="3200400" cy="1005840"/>
          </a:xfrm>
          <a:prstGeom prst="roundRect">
            <a:avLst>
              <a:gd name="adj" fmla="val 15000"/>
            </a:avLst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External Validation</a:t>
            </a:r>
            <a:br/>
            <a:r>
              <a:t>STRING + LINCS lookup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1874519" y="4114800"/>
            <a:ext cx="365760" cy="320040"/>
          </a:xfrm>
          <a:prstGeom prst="downArrow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wn Arrow 13"/>
          <p:cNvSpPr/>
          <p:nvPr/>
        </p:nvSpPr>
        <p:spPr>
          <a:xfrm>
            <a:off x="5897880" y="4114800"/>
            <a:ext cx="365760" cy="320040"/>
          </a:xfrm>
          <a:prstGeom prst="downArrow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own Arrow 14"/>
          <p:cNvSpPr/>
          <p:nvPr/>
        </p:nvSpPr>
        <p:spPr>
          <a:xfrm>
            <a:off x="9921240" y="4114800"/>
            <a:ext cx="365760" cy="320040"/>
          </a:xfrm>
          <a:prstGeom prst="downArrow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286000" y="4526280"/>
            <a:ext cx="7589520" cy="731520"/>
          </a:xfrm>
          <a:prstGeom prst="roundRect">
            <a:avLst>
              <a:gd name="adj" fmla="val 1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Combined Scoring: Network Effect + Embedding Boost + Confidence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897880" y="5349240"/>
            <a:ext cx="365760" cy="320040"/>
          </a:xfrm>
          <a:prstGeom prst="downArrow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108960" y="5760720"/>
            <a:ext cx="5943600" cy="822960"/>
          </a:xfrm>
          <a:prstGeom prst="roundRect">
            <a:avLst>
              <a:gd name="adj" fmla="val 15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Ranked Gene List + Actionable Recommendations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10800000">
            <a:off x="10515600" y="5760720"/>
            <a:ext cx="1676095" cy="1097280"/>
          </a:xfrm>
          <a:prstGeom prst="rtTriangle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LangGraph Workflow Orchestration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6C757D"/>
                </a:solidFill>
              </a:defRPr>
            </a:pPr>
            <a:r>
              <a:t>Intelligent routing with parallel execution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920240"/>
            <a:ext cx="2011680" cy="548640"/>
          </a:xfrm>
          <a:prstGeom prst="roundRect">
            <a:avLst>
              <a:gd name="adj" fmla="val 15000"/>
            </a:avLst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Gene Input</a:t>
            </a:r>
          </a:p>
        </p:txBody>
      </p:sp>
      <p:sp>
        <p:nvSpPr>
          <p:cNvPr id="9" name="Down Arrow 8"/>
          <p:cNvSpPr/>
          <p:nvPr/>
        </p:nvSpPr>
        <p:spPr>
          <a:xfrm>
            <a:off x="5897880" y="2514600"/>
            <a:ext cx="365760" cy="320040"/>
          </a:xfrm>
          <a:prstGeom prst="downArrow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0" y="2743200"/>
            <a:ext cx="2926080" cy="548640"/>
          </a:xfrm>
          <a:prstGeom prst="roundRect">
            <a:avLst>
              <a:gd name="adj" fmla="val 1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Classify Gene Type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897880" y="3337560"/>
            <a:ext cx="365760" cy="320040"/>
          </a:xfrm>
          <a:prstGeom prst="downArrow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iamond 11"/>
          <p:cNvSpPr/>
          <p:nvPr/>
        </p:nvSpPr>
        <p:spPr>
          <a:xfrm>
            <a:off x="5029200" y="3520440"/>
            <a:ext cx="2011680" cy="731520"/>
          </a:xfrm>
          <a:prstGeom prst="diamond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370332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Route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3931920" y="3886200"/>
            <a:ext cx="365760" cy="320040"/>
          </a:xfrm>
          <a:prstGeom prst="downArrow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011680" y="4389120"/>
            <a:ext cx="2377440" cy="731520"/>
          </a:xfrm>
          <a:prstGeom prst="roundRect">
            <a:avLst>
              <a:gd name="adj" fmla="val 15000"/>
            </a:avLst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TF Analysis</a:t>
            </a:r>
            <a:br/>
            <a:r>
              <a:t>(BFS cascade)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5897880" y="4297680"/>
            <a:ext cx="365760" cy="320040"/>
          </a:xfrm>
          <a:prstGeom prst="downArrow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0" y="4526280"/>
            <a:ext cx="2926080" cy="502920"/>
          </a:xfrm>
          <a:prstGeom prst="roundRect">
            <a:avLst>
              <a:gd name="adj" fmla="val 15000"/>
            </a:avLst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Master Regulator Analysis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7863840" y="3886200"/>
            <a:ext cx="365760" cy="320040"/>
          </a:xfrm>
          <a:prstGeom prst="downArrow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680960" y="4389120"/>
            <a:ext cx="2377440" cy="731520"/>
          </a:xfrm>
          <a:prstGeom prst="roundRect">
            <a:avLst>
              <a:gd name="adj" fmla="val 15000"/>
            </a:avLst>
          </a:prstGeom>
          <a:solidFill>
            <a:srgbClr val="4A6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Effector Analysis</a:t>
            </a:r>
            <a:br/>
            <a:r>
              <a:t>(PPI + routing)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60320" y="5394960"/>
            <a:ext cx="6949440" cy="502920"/>
          </a:xfrm>
          <a:prstGeom prst="roundRect">
            <a:avLst>
              <a:gd name="adj" fmla="val 1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Parallel Batch: External APIs + Insights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5897880" y="5943600"/>
            <a:ext cx="365760" cy="320040"/>
          </a:xfrm>
          <a:prstGeom prst="downArrow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114800" y="6172200"/>
            <a:ext cx="3840480" cy="548640"/>
          </a:xfrm>
          <a:prstGeom prst="roundRect">
            <a:avLst>
              <a:gd name="adj" fmla="val 15000"/>
            </a:avLst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Synthesize &amp; Report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1920240"/>
            <a:ext cx="3931920" cy="219456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01168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1A2E"/>
                </a:solidFill>
              </a:defRPr>
            </a:pPr>
            <a:r>
              <a:t>Key Benefits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2377440"/>
            <a:ext cx="374903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200">
                <a:solidFill>
                  <a:srgbClr val="2C3E50"/>
                </a:solidFill>
              </a:defRPr>
            </a:pPr>
            <a:r>
              <a:t>• Intelligent gene-type routing</a:t>
            </a:r>
          </a:p>
          <a:p>
            <a:pPr>
              <a:spcBef>
                <a:spcPts val="400"/>
              </a:spcBef>
              <a:defRPr sz="1200">
                <a:solidFill>
                  <a:srgbClr val="2C3E50"/>
                </a:solidFill>
              </a:defRPr>
            </a:pPr>
            <a:r>
              <a:t>• 3-5x faster via parallelization</a:t>
            </a:r>
          </a:p>
          <a:p>
            <a:pPr>
              <a:spcBef>
                <a:spcPts val="400"/>
              </a:spcBef>
              <a:defRPr sz="1200">
                <a:solidFill>
                  <a:srgbClr val="2C3E50"/>
                </a:solidFill>
              </a:defRPr>
            </a:pPr>
            <a:r>
              <a:t>• Optional LLM biological insights</a:t>
            </a:r>
          </a:p>
          <a:p>
            <a:pPr>
              <a:spcBef>
                <a:spcPts val="400"/>
              </a:spcBef>
              <a:defRPr sz="1200">
                <a:solidFill>
                  <a:srgbClr val="2C3E50"/>
                </a:solidFill>
              </a:defRPr>
            </a:pPr>
            <a:r>
              <a:t>• Graceful fallback mechanisms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1920240"/>
            <a:ext cx="3657600" cy="219456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201168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D4AA"/>
                </a:solidFill>
              </a:defRPr>
            </a:pPr>
            <a:r>
              <a:t>Performance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237744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200">
                <a:solidFill>
                  <a:srgbClr val="FFFFFF"/>
                </a:solidFill>
              </a:defRPr>
            </a:pPr>
            <a:r>
              <a:t>Basic: ~3 sec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Standard: ~5 sec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Comprehensive: ~8-10 sec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Multi-gene (3): ~10 sec parallel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10800000">
            <a:off x="10515600" y="5760720"/>
            <a:ext cx="1676095" cy="1097280"/>
          </a:xfrm>
          <a:prstGeom prst="rtTriangle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01168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Perturbation Analysis: Cascading Fallback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960120"/>
            <a:ext cx="1280160" cy="41148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033272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Gene Input</a:t>
            </a:r>
          </a:p>
        </p:txBody>
      </p:sp>
      <p:sp>
        <p:nvSpPr>
          <p:cNvPr id="9" name="Down Arrow 8"/>
          <p:cNvSpPr/>
          <p:nvPr/>
        </p:nvSpPr>
        <p:spPr>
          <a:xfrm>
            <a:off x="1508760" y="1399032"/>
            <a:ext cx="274320" cy="274320"/>
          </a:xfrm>
          <a:prstGeom prst="downArrow">
            <a:avLst/>
          </a:prstGeom>
          <a:solidFill>
            <a:srgbClr val="8E9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iamond 9"/>
          <p:cNvSpPr/>
          <p:nvPr/>
        </p:nvSpPr>
        <p:spPr>
          <a:xfrm>
            <a:off x="731520" y="1737360"/>
            <a:ext cx="1828800" cy="640080"/>
          </a:xfrm>
          <a:prstGeom prst="diamond">
            <a:avLst/>
          </a:prstGeom>
          <a:solidFill>
            <a:srgbClr val="2C3E5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01952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GRN edges?</a:t>
            </a:r>
          </a:p>
        </p:txBody>
      </p:sp>
      <p:sp>
        <p:nvSpPr>
          <p:cNvPr id="12" name="Oval 11"/>
          <p:cNvSpPr/>
          <p:nvPr/>
        </p:nvSpPr>
        <p:spPr>
          <a:xfrm>
            <a:off x="411480" y="1920240"/>
            <a:ext cx="292608" cy="292608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1938528"/>
            <a:ext cx="29260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651760" y="1965960"/>
            <a:ext cx="457200" cy="201168"/>
          </a:xfrm>
          <a:prstGeom prst="rightArrow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7480" y="1755648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00D4AA"/>
                </a:solidFill>
              </a:defRPr>
            </a:pPr>
            <a:r>
              <a:t>YES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0" y="1828800"/>
            <a:ext cx="2286000" cy="457200"/>
          </a:xfrm>
          <a:prstGeom prst="roundRect">
            <a:avLst/>
          </a:prstGeom>
          <a:solidFill>
            <a:srgbClr val="4A6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0" y="1901952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BFS propagation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492240" y="1965960"/>
            <a:ext cx="365760" cy="182880"/>
          </a:xfrm>
          <a:prstGeom prst="rightArrow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0" y="1847088"/>
            <a:ext cx="640080" cy="411480"/>
          </a:xfrm>
          <a:prstGeom prst="round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9202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END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1508760" y="2395728"/>
            <a:ext cx="274320" cy="228600"/>
          </a:xfrm>
          <a:prstGeom prst="downArrow">
            <a:avLst/>
          </a:prstGeom>
          <a:solidFill>
            <a:srgbClr val="8E9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0" y="2395728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8E99A4"/>
                </a:solidFill>
              </a:defRPr>
            </a:pPr>
            <a:r>
              <a:t>NO</a:t>
            </a:r>
          </a:p>
        </p:txBody>
      </p:sp>
      <p:sp>
        <p:nvSpPr>
          <p:cNvPr id="23" name="Diamond 22"/>
          <p:cNvSpPr/>
          <p:nvPr/>
        </p:nvSpPr>
        <p:spPr>
          <a:xfrm>
            <a:off x="731520" y="2606040"/>
            <a:ext cx="1828800" cy="640080"/>
          </a:xfrm>
          <a:prstGeom prst="diamond">
            <a:avLst/>
          </a:prstGeom>
          <a:solidFill>
            <a:srgbClr val="2C3E5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2770632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STRING</a:t>
            </a:r>
            <a:br/>
            <a:r>
              <a:t>partner?</a:t>
            </a:r>
          </a:p>
        </p:txBody>
      </p:sp>
      <p:sp>
        <p:nvSpPr>
          <p:cNvPr id="25" name="Oval 24"/>
          <p:cNvSpPr/>
          <p:nvPr/>
        </p:nvSpPr>
        <p:spPr>
          <a:xfrm>
            <a:off x="411480" y="2788920"/>
            <a:ext cx="292608" cy="292608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2807208"/>
            <a:ext cx="29260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2651760" y="2834640"/>
            <a:ext cx="457200" cy="201168"/>
          </a:xfrm>
          <a:prstGeom prst="rightArrow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97480" y="2624328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00D4AA"/>
                </a:solidFill>
              </a:defRPr>
            </a:pPr>
            <a:r>
              <a:t>YES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0" y="2697480"/>
            <a:ext cx="2286000" cy="457200"/>
          </a:xfrm>
          <a:prstGeom prst="roundRect">
            <a:avLst/>
          </a:prstGeom>
          <a:solidFill>
            <a:srgbClr val="4A6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06240" y="2770632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Route → BFS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6492240" y="2834640"/>
            <a:ext cx="365760" cy="182880"/>
          </a:xfrm>
          <a:prstGeom prst="rightArrow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583680" y="2715768"/>
            <a:ext cx="640080" cy="411480"/>
          </a:xfrm>
          <a:prstGeom prst="round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27889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END</a:t>
            </a:r>
          </a:p>
        </p:txBody>
      </p:sp>
      <p:sp>
        <p:nvSpPr>
          <p:cNvPr id="34" name="Down Arrow 33"/>
          <p:cNvSpPr/>
          <p:nvPr/>
        </p:nvSpPr>
        <p:spPr>
          <a:xfrm>
            <a:off x="1508760" y="3264408"/>
            <a:ext cx="274320" cy="228600"/>
          </a:xfrm>
          <a:prstGeom prst="downArrow">
            <a:avLst/>
          </a:prstGeom>
          <a:solidFill>
            <a:srgbClr val="8E9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28800" y="3264408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8E99A4"/>
                </a:solidFill>
              </a:defRPr>
            </a:pPr>
            <a:r>
              <a:t>NO</a:t>
            </a:r>
          </a:p>
        </p:txBody>
      </p:sp>
      <p:sp>
        <p:nvSpPr>
          <p:cNvPr id="36" name="Diamond 35"/>
          <p:cNvSpPr/>
          <p:nvPr/>
        </p:nvSpPr>
        <p:spPr>
          <a:xfrm>
            <a:off x="731520" y="3474720"/>
            <a:ext cx="1828800" cy="640080"/>
          </a:xfrm>
          <a:prstGeom prst="diamond">
            <a:avLst/>
          </a:prstGeom>
          <a:solidFill>
            <a:srgbClr val="2C3E5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3639312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Embedding</a:t>
            </a:r>
            <a:br/>
            <a:r>
              <a:t>neighbor?</a:t>
            </a:r>
          </a:p>
        </p:txBody>
      </p:sp>
      <p:sp>
        <p:nvSpPr>
          <p:cNvPr id="38" name="Oval 37"/>
          <p:cNvSpPr/>
          <p:nvPr/>
        </p:nvSpPr>
        <p:spPr>
          <a:xfrm>
            <a:off x="411480" y="3657600"/>
            <a:ext cx="292608" cy="292608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3675888"/>
            <a:ext cx="29260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2651760" y="3703320"/>
            <a:ext cx="457200" cy="201168"/>
          </a:xfrm>
          <a:prstGeom prst="rightArrow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697480" y="3493008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00D4AA"/>
                </a:solidFill>
              </a:defRPr>
            </a:pPr>
            <a:r>
              <a:t>YES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114800" y="3566160"/>
            <a:ext cx="2286000" cy="457200"/>
          </a:xfrm>
          <a:prstGeom prst="roundRect">
            <a:avLst/>
          </a:prstGeom>
          <a:solidFill>
            <a:srgbClr val="4A6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06240" y="3639312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Route → BFS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6492240" y="3703320"/>
            <a:ext cx="365760" cy="182880"/>
          </a:xfrm>
          <a:prstGeom prst="rightArrow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583680" y="3584448"/>
            <a:ext cx="640080" cy="411480"/>
          </a:xfrm>
          <a:prstGeom prst="round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0" y="36576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END</a:t>
            </a:r>
          </a:p>
        </p:txBody>
      </p:sp>
      <p:sp>
        <p:nvSpPr>
          <p:cNvPr id="47" name="Down Arrow 46"/>
          <p:cNvSpPr/>
          <p:nvPr/>
        </p:nvSpPr>
        <p:spPr>
          <a:xfrm>
            <a:off x="1508760" y="4133088"/>
            <a:ext cx="274320" cy="228600"/>
          </a:xfrm>
          <a:prstGeom prst="downArrow">
            <a:avLst/>
          </a:prstGeom>
          <a:solidFill>
            <a:srgbClr val="8E9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828800" y="4133088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8E99A4"/>
                </a:solidFill>
              </a:defRPr>
            </a:pPr>
            <a:r>
              <a:t>NO</a:t>
            </a:r>
          </a:p>
        </p:txBody>
      </p:sp>
      <p:sp>
        <p:nvSpPr>
          <p:cNvPr id="49" name="Diamond 48"/>
          <p:cNvSpPr/>
          <p:nvPr/>
        </p:nvSpPr>
        <p:spPr>
          <a:xfrm>
            <a:off x="731520" y="4343400"/>
            <a:ext cx="1828800" cy="640080"/>
          </a:xfrm>
          <a:prstGeom prst="diamond">
            <a:avLst/>
          </a:prstGeom>
          <a:solidFill>
            <a:srgbClr val="2C3E5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8680" y="4507992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LINCS</a:t>
            </a:r>
            <a:br/>
            <a:r>
              <a:t>signature?</a:t>
            </a:r>
          </a:p>
        </p:txBody>
      </p:sp>
      <p:sp>
        <p:nvSpPr>
          <p:cNvPr id="51" name="Oval 50"/>
          <p:cNvSpPr/>
          <p:nvPr/>
        </p:nvSpPr>
        <p:spPr>
          <a:xfrm>
            <a:off x="411480" y="4526280"/>
            <a:ext cx="292608" cy="292608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4544568"/>
            <a:ext cx="29260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53" name="Right Arrow 52"/>
          <p:cNvSpPr/>
          <p:nvPr/>
        </p:nvSpPr>
        <p:spPr>
          <a:xfrm>
            <a:off x="2651760" y="4572000"/>
            <a:ext cx="457200" cy="201168"/>
          </a:xfrm>
          <a:prstGeom prst="rightArrow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697480" y="4361688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00D4AA"/>
                </a:solidFill>
              </a:defRPr>
            </a:pPr>
            <a:r>
              <a:t>YES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114800" y="4434840"/>
            <a:ext cx="2286000" cy="457200"/>
          </a:xfrm>
          <a:prstGeom prst="roundRect">
            <a:avLst/>
          </a:prstGeom>
          <a:solidFill>
            <a:srgbClr val="4A6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06240" y="4507992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Map downstream → BFS</a:t>
            </a:r>
          </a:p>
        </p:txBody>
      </p:sp>
      <p:sp>
        <p:nvSpPr>
          <p:cNvPr id="57" name="Right Arrow 56"/>
          <p:cNvSpPr/>
          <p:nvPr/>
        </p:nvSpPr>
        <p:spPr>
          <a:xfrm>
            <a:off x="6492240" y="4572000"/>
            <a:ext cx="365760" cy="182880"/>
          </a:xfrm>
          <a:prstGeom prst="rightArrow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6583680" y="4453128"/>
            <a:ext cx="640080" cy="411480"/>
          </a:xfrm>
          <a:prstGeom prst="round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83680" y="452628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END</a:t>
            </a:r>
          </a:p>
        </p:txBody>
      </p:sp>
      <p:sp>
        <p:nvSpPr>
          <p:cNvPr id="60" name="Down Arrow 59"/>
          <p:cNvSpPr/>
          <p:nvPr/>
        </p:nvSpPr>
        <p:spPr>
          <a:xfrm>
            <a:off x="1508760" y="5001768"/>
            <a:ext cx="274320" cy="228600"/>
          </a:xfrm>
          <a:prstGeom prst="downArrow">
            <a:avLst/>
          </a:prstGeom>
          <a:solidFill>
            <a:srgbClr val="8E9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828800" y="5001768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8E99A4"/>
                </a:solidFill>
              </a:defRPr>
            </a:pPr>
            <a:r>
              <a:t>NO</a:t>
            </a:r>
          </a:p>
        </p:txBody>
      </p:sp>
      <p:sp>
        <p:nvSpPr>
          <p:cNvPr id="62" name="Diamond 61"/>
          <p:cNvSpPr/>
          <p:nvPr/>
        </p:nvSpPr>
        <p:spPr>
          <a:xfrm>
            <a:off x="731520" y="5212080"/>
            <a:ext cx="1828800" cy="640080"/>
          </a:xfrm>
          <a:prstGeom prst="diamond">
            <a:avLst/>
          </a:prstGeom>
          <a:solidFill>
            <a:srgbClr val="2C3E5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68680" y="5376672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Super-</a:t>
            </a:r>
            <a:br/>
            <a:r>
              <a:t>enhancer?</a:t>
            </a:r>
          </a:p>
        </p:txBody>
      </p:sp>
      <p:sp>
        <p:nvSpPr>
          <p:cNvPr id="64" name="Oval 63"/>
          <p:cNvSpPr/>
          <p:nvPr/>
        </p:nvSpPr>
        <p:spPr>
          <a:xfrm>
            <a:off x="411480" y="5394960"/>
            <a:ext cx="292608" cy="292608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11480" y="5413248"/>
            <a:ext cx="29260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66" name="Right Arrow 65"/>
          <p:cNvSpPr/>
          <p:nvPr/>
        </p:nvSpPr>
        <p:spPr>
          <a:xfrm>
            <a:off x="2651760" y="5440680"/>
            <a:ext cx="457200" cy="201168"/>
          </a:xfrm>
          <a:prstGeom prst="rightArrow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697480" y="5230368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00D4AA"/>
                </a:solidFill>
              </a:defRPr>
            </a:pPr>
            <a:r>
              <a:t>YES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114800" y="5303520"/>
            <a:ext cx="2286000" cy="457200"/>
          </a:xfrm>
          <a:prstGeom prst="roundRect">
            <a:avLst/>
          </a:prstGeom>
          <a:solidFill>
            <a:srgbClr val="4A6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206240" y="5376672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Route to TFs → BFS</a:t>
            </a:r>
          </a:p>
        </p:txBody>
      </p:sp>
      <p:sp>
        <p:nvSpPr>
          <p:cNvPr id="70" name="Right Arrow 69"/>
          <p:cNvSpPr/>
          <p:nvPr/>
        </p:nvSpPr>
        <p:spPr>
          <a:xfrm>
            <a:off x="6492240" y="5440680"/>
            <a:ext cx="365760" cy="182880"/>
          </a:xfrm>
          <a:prstGeom prst="rightArrow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6583680" y="5321808"/>
            <a:ext cx="640080" cy="411480"/>
          </a:xfrm>
          <a:prstGeom prst="round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583680" y="539496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END</a:t>
            </a:r>
          </a:p>
        </p:txBody>
      </p:sp>
      <p:sp>
        <p:nvSpPr>
          <p:cNvPr id="73" name="Down Arrow 72"/>
          <p:cNvSpPr/>
          <p:nvPr/>
        </p:nvSpPr>
        <p:spPr>
          <a:xfrm>
            <a:off x="1508760" y="5870448"/>
            <a:ext cx="274320" cy="228600"/>
          </a:xfrm>
          <a:prstGeom prst="downArrow">
            <a:avLst/>
          </a:prstGeom>
          <a:solidFill>
            <a:srgbClr val="8E9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828800" y="5870448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8E99A4"/>
                </a:solidFill>
              </a:defRPr>
            </a:pPr>
            <a:r>
              <a:t>NO</a:t>
            </a:r>
          </a:p>
        </p:txBody>
      </p:sp>
      <p:sp>
        <p:nvSpPr>
          <p:cNvPr id="75" name="Oval 74"/>
          <p:cNvSpPr/>
          <p:nvPr/>
        </p:nvSpPr>
        <p:spPr>
          <a:xfrm>
            <a:off x="411480" y="6172200"/>
            <a:ext cx="292608" cy="292608"/>
          </a:xfrm>
          <a:prstGeom prst="ellipse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11480" y="6190488"/>
            <a:ext cx="29260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31520" y="6126480"/>
            <a:ext cx="4114800" cy="457200"/>
          </a:xfrm>
          <a:prstGeom prst="round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22960" y="621792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Embedding-only similarity ranking</a:t>
            </a:r>
          </a:p>
        </p:txBody>
      </p:sp>
      <p:sp>
        <p:nvSpPr>
          <p:cNvPr id="79" name="Right Arrow 78"/>
          <p:cNvSpPr/>
          <p:nvPr/>
        </p:nvSpPr>
        <p:spPr>
          <a:xfrm>
            <a:off x="4937760" y="6263640"/>
            <a:ext cx="365760" cy="182880"/>
          </a:xfrm>
          <a:prstGeom prst="rightArrow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5394960" y="6144768"/>
            <a:ext cx="1097280" cy="411480"/>
          </a:xfrm>
          <a:prstGeom prst="round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394960" y="62179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END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7589520" y="1097280"/>
            <a:ext cx="4114800" cy="173736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F8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772400" y="123444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1A2E"/>
                </a:solidFill>
              </a:defRPr>
            </a:pPr>
            <a:r>
              <a:t>Fallback Strategy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772400" y="1508760"/>
            <a:ext cx="374903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900" b="0">
                <a:solidFill>
                  <a:srgbClr val="00D4AA"/>
                </a:solidFill>
              </a:defRPr>
            </a:pPr>
            <a:r>
              <a:t>1. GRN Edges: Direct regulatory targets</a:t>
            </a:r>
          </a:p>
          <a:p>
            <a:pPr>
              <a:spcBef>
                <a:spcPts val="200"/>
              </a:spcBef>
              <a:defRPr sz="900" b="0">
                <a:solidFill>
                  <a:srgbClr val="4A69BD"/>
                </a:solidFill>
              </a:defRPr>
            </a:pPr>
            <a:r>
              <a:t>2. STRING: Protein interaction partners</a:t>
            </a:r>
          </a:p>
          <a:p>
            <a:pPr>
              <a:spcBef>
                <a:spcPts val="200"/>
              </a:spcBef>
              <a:defRPr sz="900" b="0">
                <a:solidFill>
                  <a:srgbClr val="9D4EDD"/>
                </a:solidFill>
              </a:defRPr>
            </a:pPr>
            <a:r>
              <a:t>3. Embeddings: Functionally similar genes</a:t>
            </a:r>
          </a:p>
          <a:p>
            <a:pPr>
              <a:spcBef>
                <a:spcPts val="200"/>
              </a:spcBef>
              <a:defRPr sz="900" b="0">
                <a:solidFill>
                  <a:srgbClr val="FF6B6B"/>
                </a:solidFill>
              </a:defRPr>
            </a:pPr>
            <a:r>
              <a:t>4. LINCS: Perturbation signatures</a:t>
            </a:r>
          </a:p>
          <a:p>
            <a:pPr>
              <a:spcBef>
                <a:spcPts val="200"/>
              </a:spcBef>
              <a:defRPr sz="900" b="0">
                <a:solidFill>
                  <a:srgbClr val="00C98D"/>
                </a:solidFill>
              </a:defRPr>
            </a:pPr>
            <a:r>
              <a:t>5. Super-enhancer: Chromatin-linked TFs</a:t>
            </a:r>
          </a:p>
          <a:p>
            <a:pPr>
              <a:spcBef>
                <a:spcPts val="200"/>
              </a:spcBef>
              <a:defRPr sz="900" b="0">
                <a:solidFill>
                  <a:srgbClr val="6C757D"/>
                </a:solidFill>
              </a:defRPr>
            </a:pPr>
            <a:r>
              <a:t>6. Embed-only: Lowest confidence fallback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680960" y="3931920"/>
            <a:ext cx="3931920" cy="32004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772400" y="4005072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D4AA"/>
                </a:solidFill>
              </a:defRPr>
            </a:pPr>
            <a:r>
              <a:t>Perturbation Scoring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772400" y="4251960"/>
            <a:ext cx="374903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CCBB"/>
                </a:solidFill>
              </a:defRPr>
            </a:pPr>
            <a:r>
              <a:t>Network Effect (BFS propagation):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772400" y="4434840"/>
            <a:ext cx="3749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Consolas"/>
              </a:defRPr>
            </a:pPr>
            <a:r>
              <a:t>E_net(t) = ∏ MI(e)  for edges r→t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772400" y="4754880"/>
            <a:ext cx="374903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B88DD"/>
                </a:solidFill>
              </a:defRPr>
            </a:pPr>
            <a:r>
              <a:t>Embedding Similarity: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772400" y="4937760"/>
            <a:ext cx="3749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Consolas"/>
              </a:defRPr>
            </a:pPr>
            <a:r>
              <a:t>E_emb(t) = cos(v_g, v_t)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772400" y="5257800"/>
            <a:ext cx="374903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CC66"/>
                </a:solidFill>
              </a:defRPr>
            </a:pPr>
            <a:r>
              <a:t>Combined Effect: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772400" y="544068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Consolas"/>
              </a:defRPr>
            </a:pPr>
            <a:r>
              <a:t>E(t) = E_net × (α + (1-α) × E_emb)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772400" y="5806440"/>
            <a:ext cx="374903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AABBCC"/>
                </a:solidFill>
              </a:defRPr>
            </a:pPr>
            <a:r>
              <a:t>where α = 0.7 (network weight)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772400" y="6080760"/>
            <a:ext cx="37490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D4AA"/>
                </a:solidFill>
              </a:defRPr>
            </a:pPr>
            <a:r>
              <a:t>r = Route(g) → GRN-active node</a:t>
            </a:r>
          </a:p>
          <a:p>
            <a:pPr>
              <a:defRPr sz="800">
                <a:solidFill>
                  <a:srgbClr val="99AABB"/>
                </a:solidFill>
              </a:defRPr>
            </a:pPr>
            <a:r>
              <a:t>v_g, v_t = 256-dim gene embeddings</a:t>
            </a:r>
          </a:p>
          <a:p>
            <a:pPr>
              <a:defRPr sz="800">
                <a:solidFill>
                  <a:srgbClr val="99AABB"/>
                </a:solidFill>
              </a:defRPr>
            </a:pPr>
            <a:r>
              <a:t>MI(e) = mutual information edge weight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10800000">
            <a:off x="10515600" y="5760720"/>
            <a:ext cx="1676095" cy="1097280"/>
          </a:xfrm>
          <a:prstGeom prst="rtTriangle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10 Cell Type Networks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2011680" cy="1828800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CD4+ T Cells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1645920"/>
            <a:ext cx="2011680" cy="1828800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22860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CD8+ T Cells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1645920"/>
            <a:ext cx="2011680" cy="1828800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22860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NK Cells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1645920"/>
            <a:ext cx="2011680" cy="1828800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22860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NKT Cells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92640" y="1645920"/>
            <a:ext cx="2011680" cy="1828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0" y="22860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B Cells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840480"/>
            <a:ext cx="2011680" cy="1828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4805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CD14+ Monocytes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34640" y="3840480"/>
            <a:ext cx="2011680" cy="1828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0" y="44805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CD16+ Monocytes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0" y="3840480"/>
            <a:ext cx="2011680" cy="1828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0" y="44805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Dendritic Cells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3840480"/>
            <a:ext cx="2011680" cy="1828800"/>
          </a:xfrm>
          <a:prstGeom prst="round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0" y="44805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Epithelial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92640" y="3840480"/>
            <a:ext cx="2011680" cy="1828800"/>
          </a:xfrm>
          <a:prstGeom prst="round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92640" y="44805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Erythrocytes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03504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6C757D"/>
                </a:solidFill>
              </a:defRPr>
            </a:pPr>
            <a:r>
              <a:t>Pre-computed regulatory networks derived from single-cell RNA-seq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10800000">
            <a:off x="10515600" y="5760720"/>
            <a:ext cx="1676095" cy="1097280"/>
          </a:xfrm>
          <a:prstGeom prst="rtTriangle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Capabilities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3566160" cy="2194560"/>
          </a:xfrm>
          <a:prstGeom prst="roundRect">
            <a:avLst/>
          </a:prstGeom>
          <a:solidFill>
            <a:srgbClr val="F8F9FC"/>
          </a:solidFill>
          <a:ln w="381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3566160" cy="1371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3566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C3E50"/>
                </a:solidFill>
              </a:defRPr>
            </a:pPr>
            <a:r>
              <a:t>Gene Knockdown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603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6C757D"/>
                </a:solidFill>
              </a:defRPr>
            </a:pPr>
            <a:r>
              <a:t>Predict downstream effects</a:t>
            </a:r>
            <a:br/>
            <a:r>
              <a:t>of gene silencing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54480"/>
            <a:ext cx="3566160" cy="2194560"/>
          </a:xfrm>
          <a:prstGeom prst="roundRect">
            <a:avLst/>
          </a:prstGeom>
          <a:solidFill>
            <a:srgbClr val="F8F9FC"/>
          </a:solidFill>
          <a:ln w="38100">
            <a:solidFill>
              <a:srgbClr val="162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554480"/>
            <a:ext cx="3566160" cy="1371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920240"/>
            <a:ext cx="3566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C3E50"/>
                </a:solidFill>
              </a:defRPr>
            </a:pPr>
            <a:r>
              <a:t>Overexpression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603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6C757D"/>
                </a:solidFill>
              </a:defRPr>
            </a:pPr>
            <a:r>
              <a:t>Model increased gene</a:t>
            </a:r>
            <a:br/>
            <a:r>
              <a:t>expression impact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554480"/>
            <a:ext cx="3566160" cy="2194560"/>
          </a:xfrm>
          <a:prstGeom prst="roundRect">
            <a:avLst/>
          </a:prstGeom>
          <a:solidFill>
            <a:srgbClr val="F8F9FC"/>
          </a:solidFill>
          <a:ln w="38100">
            <a:solidFill>
              <a:srgbClr val="00C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554480"/>
            <a:ext cx="3566160" cy="137160"/>
          </a:xfrm>
          <a:prstGeom prst="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920240"/>
            <a:ext cx="3566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C3E50"/>
                </a:solidFill>
              </a:defRPr>
            </a:pPr>
            <a:r>
              <a:t>Similar Genes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5603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6C757D"/>
                </a:solidFill>
              </a:defRPr>
            </a:pPr>
            <a:r>
              <a:t>Find functionally related</a:t>
            </a:r>
            <a:br/>
            <a:r>
              <a:t>genes via embeddings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023360"/>
            <a:ext cx="3566160" cy="2194560"/>
          </a:xfrm>
          <a:prstGeom prst="roundRect">
            <a:avLst/>
          </a:prstGeom>
          <a:solidFill>
            <a:srgbClr val="F8F9FC"/>
          </a:solidFill>
          <a:ln w="381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023360"/>
            <a:ext cx="3566160" cy="1371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389120"/>
            <a:ext cx="3566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C3E50"/>
                </a:solidFill>
              </a:defRPr>
            </a:pPr>
            <a:r>
              <a:t>Drug Targets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0292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6C757D"/>
                </a:solidFill>
              </a:defRPr>
            </a:pPr>
            <a:r>
              <a:t>Identify network</a:t>
            </a:r>
            <a:br/>
            <a:r>
              <a:t>vulnerabilities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4023360"/>
            <a:ext cx="3566160" cy="2194560"/>
          </a:xfrm>
          <a:prstGeom prst="roundRect">
            <a:avLst/>
          </a:prstGeom>
          <a:solidFill>
            <a:srgbClr val="F8F9FC"/>
          </a:solidFill>
          <a:ln w="38100">
            <a:solidFill>
              <a:srgbClr val="9D4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9120" y="4023360"/>
            <a:ext cx="3566160" cy="137160"/>
          </a:xfrm>
          <a:prstGeom prst="rect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4389120"/>
            <a:ext cx="3566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C3E50"/>
                </a:solidFill>
              </a:defRPr>
            </a:pPr>
            <a:r>
              <a:t>LLM Insights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50292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6C757D"/>
                </a:solidFill>
              </a:defRPr>
            </a:pPr>
            <a:r>
              <a:t>AI-powered biological</a:t>
            </a:r>
            <a:br/>
            <a:r>
              <a:t>interpretation (Ollama)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4023360"/>
            <a:ext cx="3566160" cy="2194560"/>
          </a:xfrm>
          <a:prstGeom prst="roundRect">
            <a:avLst/>
          </a:prstGeom>
          <a:solidFill>
            <a:srgbClr val="F8F9FC"/>
          </a:solidFill>
          <a:ln w="381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0" y="4023360"/>
            <a:ext cx="3566160" cy="1371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4389120"/>
            <a:ext cx="3566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C3E50"/>
                </a:solidFill>
              </a:defRPr>
            </a:pPr>
            <a:r>
              <a:t>Super-Enhancers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50292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6C757D"/>
                </a:solidFill>
              </a:defRPr>
            </a:pPr>
            <a:r>
              <a:t>BRD4/BET inhibitor</a:t>
            </a:r>
            <a:br/>
            <a:r>
              <a:t>sensitivity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10800000">
            <a:off x="10515600" y="5760720"/>
            <a:ext cx="1676095" cy="1097280"/>
          </a:xfrm>
          <a:prstGeom prst="rtTriangle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Example: APC Knockdown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645920"/>
            <a:ext cx="2194560" cy="292608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8720" y="182880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874519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C3E50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4688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Query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1752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"What happens when</a:t>
            </a:r>
            <a:br/>
            <a:r>
              <a:t>APC is knocked down?"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606040" y="3017520"/>
            <a:ext cx="457200" cy="274320"/>
          </a:xfrm>
          <a:prstGeom prst="rightArrow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97479" y="1645920"/>
            <a:ext cx="2194560" cy="29260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20439" y="182880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39" y="1874519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6213E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79" y="24688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Classify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19" y="301752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Gene type: Scaffold</a:t>
            </a:r>
            <a:br/>
            <a:r>
              <a:t>No transcriptional targets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937759" y="3017520"/>
            <a:ext cx="457200" cy="274320"/>
          </a:xfrm>
          <a:prstGeom prst="rightArrow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29200" y="1645920"/>
            <a:ext cx="2194560" cy="2926080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52160" y="182880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2160" y="1874519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D4AA"/>
                </a:solidFill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24688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Suggest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01752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Analyze protein partners:</a:t>
            </a:r>
            <a:br/>
            <a:r>
              <a:t>CTNNB1, AXIN1, GSK3B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269480" y="3017520"/>
            <a:ext cx="457200" cy="274320"/>
          </a:xfrm>
          <a:prstGeom prst="rightArrow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60919" y="1645920"/>
            <a:ext cx="2194560" cy="2926080"/>
          </a:xfrm>
          <a:prstGeom prst="round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183879" y="182880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83879" y="1874519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C98D"/>
                </a:solidFill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19" y="24688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Predict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59" y="301752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CTNNB1 overexpression</a:t>
            </a:r>
            <a:br/>
            <a:r>
              <a:t>2,739 genes affected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601199" y="3017520"/>
            <a:ext cx="457200" cy="274320"/>
          </a:xfrm>
          <a:prstGeom prst="rightArrow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92640" y="1645920"/>
            <a:ext cx="2194560" cy="292608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515600" y="182880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0" y="1874519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6B6B"/>
                </a:solidFill>
              </a:defRPr>
            </a:pPr>
            <a: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24688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Insight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301752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APC loss = beta-catenin</a:t>
            </a:r>
            <a:br/>
            <a:r>
              <a:t>accumulation = oncogenesis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846320"/>
            <a:ext cx="110944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i="1">
                <a:solidFill>
                  <a:srgbClr val="16213E"/>
                </a:solidFill>
              </a:defRPr>
            </a:pPr>
            <a:r>
              <a:t>Intelligent routing guides users from scaffold proteins to transcriptionally active partners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10800000">
            <a:off x="10515600" y="5760720"/>
            <a:ext cx="1676095" cy="1097280"/>
          </a:xfrm>
          <a:prstGeom prst="rtTriangle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Use Cases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2743200" cy="4114800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Immunotherapy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606040"/>
            <a:ext cx="18288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83464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Discover targets in tumor</a:t>
            </a:r>
            <a:br/>
            <a:r>
              <a:t>microenvironment across</a:t>
            </a:r>
            <a:br/>
            <a:r>
              <a:t>immune cell types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554480"/>
            <a:ext cx="2743200" cy="4114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8288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CAR-T Engineering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2606040"/>
            <a:ext cx="18288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283464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Understand exhaustion</a:t>
            </a:r>
            <a:br/>
            <a:r>
              <a:t>and persistence pathways</a:t>
            </a:r>
            <a:br/>
            <a:r>
              <a:t>in T cell networks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554480"/>
            <a:ext cx="2743200" cy="4114800"/>
          </a:xfrm>
          <a:prstGeom prst="round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8288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CRISPR Prioritization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2606040"/>
            <a:ext cx="18288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83464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Predict perturbation</a:t>
            </a:r>
            <a:br/>
            <a:r>
              <a:t>effects before costly</a:t>
            </a:r>
            <a:br/>
            <a:r>
              <a:t>wet lab validation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1554480"/>
            <a:ext cx="2743200" cy="411480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18288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Target Validation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92640" y="2606040"/>
            <a:ext cx="18288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0" y="283464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Compare candidates</a:t>
            </a:r>
            <a:br/>
            <a:r>
              <a:t>using network vulnerability</a:t>
            </a:r>
            <a:br/>
            <a:r>
              <a:t>and druggability scores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10800000">
            <a:off x="10515600" y="5760720"/>
            <a:ext cx="1676095" cy="1097280"/>
          </a:xfrm>
          <a:prstGeom prst="rtTriangle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Performance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2651760" cy="3200400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26517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D4AA"/>
                </a:solidFill>
              </a:defRPr>
            </a:pPr>
            <a:r>
              <a:t>&lt; 3 sec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2608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C3E50"/>
                </a:solidFill>
              </a:defRPr>
            </a:pPr>
            <a:r>
              <a:t>Full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747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C757D"/>
                </a:solidFill>
              </a:defRPr>
            </a:pPr>
            <a:r>
              <a:t>GPU-accelerated</a:t>
            </a:r>
            <a:br/>
            <a:r>
              <a:t>perturbation prediction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645920"/>
            <a:ext cx="2651760" cy="3200400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828800"/>
            <a:ext cx="26517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D4AA"/>
                </a:solidFill>
              </a:defRPr>
            </a:pPr>
            <a:r>
              <a:t>19,247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92608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C3E50"/>
                </a:solidFill>
              </a:defRPr>
            </a:pPr>
            <a:r>
              <a:t>Genes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4747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C757D"/>
                </a:solidFill>
              </a:defRPr>
            </a:pPr>
            <a:r>
              <a:t>Complete coverage in</a:t>
            </a:r>
            <a:br/>
            <a:r>
              <a:t>embedding space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645920"/>
            <a:ext cx="2651760" cy="3200400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828800"/>
            <a:ext cx="26517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D4AA"/>
                </a:solidFill>
              </a:defRPr>
            </a:pPr>
            <a:r>
              <a:t>11M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92608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C3E50"/>
                </a:solidFill>
              </a:defRPr>
            </a:pPr>
            <a:r>
              <a:t>Cells Trained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4747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C757D"/>
                </a:solidFill>
              </a:defRPr>
            </a:pPr>
            <a:r>
              <a:t>Deep learning on</a:t>
            </a:r>
            <a:br/>
            <a:r>
              <a:t>massive single-cell 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0" y="1645920"/>
            <a:ext cx="2651760" cy="3200400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1828800"/>
            <a:ext cx="26517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D4AA"/>
                </a:solidFill>
              </a:defRPr>
            </a:pPr>
            <a:r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92608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C3E50"/>
                </a:solidFill>
              </a:defRPr>
            </a:pPr>
            <a:r>
              <a:t>Cell Types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34747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C757D"/>
                </a:solidFill>
              </a:defRPr>
            </a:pPr>
            <a:r>
              <a:t>Immune &amp; cancer-relevant</a:t>
            </a:r>
            <a:br/>
            <a:r>
              <a:t>networks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120640"/>
            <a:ext cx="11094415" cy="9144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34924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Caching and lazy loading ensure fast repeated queries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10800000">
            <a:off x="10515600" y="5760720"/>
            <a:ext cx="1676095" cy="1097280"/>
          </a:xfrm>
          <a:prstGeom prst="rtTriangle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Seamless Integration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2286000" cy="1097280"/>
          </a:xfrm>
          <a:prstGeom prst="roundRect">
            <a:avLst>
              <a:gd name="adj" fmla="val 15000"/>
            </a:avLst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Researcher</a:t>
            </a:r>
            <a:br/>
            <a:r>
              <a:t>(Natural Language)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834640" y="2743200"/>
            <a:ext cx="457200" cy="274320"/>
          </a:xfrm>
          <a:prstGeom prst="rightArrow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83280" y="2286000"/>
            <a:ext cx="2286000" cy="1097280"/>
          </a:xfrm>
          <a:prstGeom prst="roundRect">
            <a:avLst>
              <a:gd name="adj" fmla="val 1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Claude AI</a:t>
            </a:r>
            <a:br/>
            <a:r>
              <a:t>(MCP Client)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760720" y="2743200"/>
            <a:ext cx="457200" cy="274320"/>
          </a:xfrm>
          <a:prstGeom prst="rightArrow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0" y="2286000"/>
            <a:ext cx="2286000" cy="1097280"/>
          </a:xfrm>
          <a:prstGeom prst="roundRect">
            <a:avLst>
              <a:gd name="adj" fmla="val 15000"/>
            </a:avLst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CASCADE</a:t>
            </a:r>
            <a:br/>
            <a:r>
              <a:t>(MCP Server)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686800" y="2743200"/>
            <a:ext cx="457200" cy="274320"/>
          </a:xfrm>
          <a:prstGeom prst="rightArrow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235440" y="2286000"/>
            <a:ext cx="2286000" cy="1097280"/>
          </a:xfrm>
          <a:prstGeom prst="roundRect">
            <a:avLst>
              <a:gd name="adj" fmla="val 15000"/>
            </a:avLst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Predictions</a:t>
            </a:r>
            <a:br/>
            <a:r>
              <a:t>&amp; Insights</a:t>
            </a:r>
          </a:p>
        </p:txBody>
      </p:sp>
      <p:sp>
        <p:nvSpPr>
          <p:cNvPr id="14" name="Oval 13"/>
          <p:cNvSpPr/>
          <p:nvPr/>
        </p:nvSpPr>
        <p:spPr>
          <a:xfrm>
            <a:off x="2286000" y="3931920"/>
            <a:ext cx="320040" cy="320040"/>
          </a:xfrm>
          <a:prstGeom prst="ellipse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0" y="3931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C3E50"/>
                </a:solidFill>
              </a:defRPr>
            </a:pPr>
            <a:r>
              <a:t>Model Context Protocol (MCP) standard</a:t>
            </a:r>
          </a:p>
        </p:txBody>
      </p:sp>
      <p:sp>
        <p:nvSpPr>
          <p:cNvPr id="16" name="Oval 15"/>
          <p:cNvSpPr/>
          <p:nvPr/>
        </p:nvSpPr>
        <p:spPr>
          <a:xfrm>
            <a:off x="2286000" y="4572000"/>
            <a:ext cx="320040" cy="320040"/>
          </a:xfrm>
          <a:prstGeom prst="ellipse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45720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C3E50"/>
                </a:solidFill>
              </a:defRPr>
            </a:pPr>
            <a:r>
              <a:t>Natural language interface - no coding required</a:t>
            </a:r>
          </a:p>
        </p:txBody>
      </p:sp>
      <p:sp>
        <p:nvSpPr>
          <p:cNvPr id="18" name="Oval 17"/>
          <p:cNvSpPr/>
          <p:nvPr/>
        </p:nvSpPr>
        <p:spPr>
          <a:xfrm>
            <a:off x="2286000" y="5212079"/>
            <a:ext cx="320040" cy="320040"/>
          </a:xfrm>
          <a:prstGeom prst="ellipse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0" y="5212079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C3E50"/>
                </a:solidFill>
              </a:defRPr>
            </a:pPr>
            <a:r>
              <a:t>Extensible tool framework for custom analyses</a:t>
            </a:r>
          </a:p>
        </p:txBody>
      </p:sp>
      <p:sp>
        <p:nvSpPr>
          <p:cNvPr id="20" name="Oval 19"/>
          <p:cNvSpPr/>
          <p:nvPr/>
        </p:nvSpPr>
        <p:spPr>
          <a:xfrm>
            <a:off x="2286000" y="5852159"/>
            <a:ext cx="320040" cy="320040"/>
          </a:xfrm>
          <a:prstGeom prst="ellipse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0" y="5852159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C3E50"/>
                </a:solidFill>
              </a:defRPr>
            </a:pPr>
            <a:r>
              <a:t>Claude Desktop and Claude Code compatible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10800000">
            <a:off x="10515600" y="5760720"/>
            <a:ext cx="1676095" cy="1097280"/>
          </a:xfrm>
          <a:prstGeom prst="rtTriangle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Why CASCADE?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137160" cy="8229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AA"/>
                </a:solidFill>
              </a:defRPr>
            </a:pPr>
            <a:r>
              <a:t>Accelerate Discovery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745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Predict perturbation effects in seconds, not weeks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423160"/>
            <a:ext cx="137160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42316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213E"/>
                </a:solidFill>
              </a:defRPr>
            </a:pPr>
            <a:r>
              <a:t>Reduce Costs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Prioritize experiments before wet lab validation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383280"/>
            <a:ext cx="137160" cy="822960"/>
          </a:xfrm>
          <a:prstGeom prst="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383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C98D"/>
                </a:solidFill>
              </a:defRPr>
            </a:pPr>
            <a:r>
              <a:t>Increase Confidence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947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AI + network analysis for robust predictions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343400"/>
            <a:ext cx="137160" cy="8229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34340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6B6B"/>
                </a:solidFill>
              </a:defRPr>
            </a:pPr>
            <a:r>
              <a:t>Enable Innovation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Natural language interface democratizes access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0" y="5303520"/>
            <a:ext cx="6705295" cy="914400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0" y="5532120"/>
            <a:ext cx="6705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Ready to transform your drug discovery pipeline?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2743200" y="4572000"/>
            <a:ext cx="9144000" cy="2743200"/>
          </a:xfrm>
          <a:prstGeom prst="parallelogram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6400800" y="-914400"/>
            <a:ext cx="7315200" cy="2286000"/>
          </a:xfrm>
          <a:prstGeom prst="parallelogram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0" y="4572000"/>
            <a:ext cx="2743200" cy="2743200"/>
          </a:xfrm>
          <a:prstGeom prst="ellipse">
            <a:avLst/>
          </a:prstGeom>
          <a:solidFill>
            <a:srgbClr val="9D4EDD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914400" y="-914400"/>
            <a:ext cx="2286000" cy="2286000"/>
          </a:xfrm>
          <a:prstGeom prst="ellipse">
            <a:avLst/>
          </a:prstGeom>
          <a:solidFill>
            <a:srgbClr val="00D4AA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728655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>
                <a:solidFill>
                  <a:srgbClr val="00D4AA"/>
                </a:solidFill>
              </a:defRPr>
            </a:pPr>
            <a:r>
              <a:t>Let's Discuss Your Use Case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